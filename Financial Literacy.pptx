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Lato"/>
      <p:regular r:id="rId35"/>
      <p:bold r:id="rId36"/>
      <p:italic r:id="rId37"/>
      <p:boldItalic r:id="rId38"/>
    </p:embeddedFont>
    <p:embeddedFont>
      <p:font typeface="Maven Pro"/>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F6ADCB-353B-41D2-99F0-C78000F2A1C8}">
  <a:tblStyle styleId="{6CF6ADCB-353B-41D2-99F0-C78000F2A1C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D53AD96-C7DA-4D1C-9958-A0DA723F0F9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avenPro-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La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Lato-italic.fntdata"/><Relationship Id="rId14" Type="http://schemas.openxmlformats.org/officeDocument/2006/relationships/slide" Target="slides/slide8.xml"/><Relationship Id="rId36" Type="http://schemas.openxmlformats.org/officeDocument/2006/relationships/font" Target="fonts/Lato-bold.fntdata"/><Relationship Id="rId17" Type="http://schemas.openxmlformats.org/officeDocument/2006/relationships/slide" Target="slides/slide11.xml"/><Relationship Id="rId39" Type="http://schemas.openxmlformats.org/officeDocument/2006/relationships/font" Target="fonts/MavenPro-regular.fntdata"/><Relationship Id="rId16" Type="http://schemas.openxmlformats.org/officeDocument/2006/relationships/slide" Target="slides/slide10.xml"/><Relationship Id="rId38" Type="http://schemas.openxmlformats.org/officeDocument/2006/relationships/font" Target="fonts/La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6ad8d91c2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b6ad8d91c2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ww.linkedin.com/pulse/money-mentor-intelligent-financial-literacy-ai-tools-kopparthi-sybqc"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www.figma.com/design/tHtRK9mJ8xTVUSvorLbavS/MONEYMENTOR?node-id=8-3000&amp;t=6BDhhJ0nratXDqA5-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hyperlink" Target="https://docs.google.com/document/d/11ndGkCTz8MOhtazkRFnUpkzSW-CXxv8n/edit?usp=sharing&amp;ouid=102391266056544561512&amp;rtpof=true&amp;sd=tru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mailto:jayaramklv@gmail.com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972900" y="744575"/>
            <a:ext cx="5071800" cy="23316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1200"/>
              </a:spcBef>
              <a:spcAft>
                <a:spcPts val="1200"/>
              </a:spcAft>
              <a:buClr>
                <a:schemeClr val="dk1"/>
              </a:buClr>
              <a:buSzPts val="1100"/>
              <a:buFont typeface="Arial"/>
              <a:buNone/>
            </a:pPr>
            <a:r>
              <a:rPr lang="en" sz="4650">
                <a:latin typeface="Times New Roman"/>
                <a:ea typeface="Times New Roman"/>
                <a:cs typeface="Times New Roman"/>
                <a:sym typeface="Times New Roman"/>
              </a:rPr>
              <a:t>Financial Literacy With AI Integration</a:t>
            </a:r>
            <a:endParaRPr sz="4650">
              <a:latin typeface="Times New Roman"/>
              <a:ea typeface="Times New Roman"/>
              <a:cs typeface="Times New Roman"/>
              <a:sym typeface="Times New Roman"/>
            </a:endParaRPr>
          </a:p>
        </p:txBody>
      </p:sp>
      <p:sp>
        <p:nvSpPr>
          <p:cNvPr id="55" name="Google Shape;55;p13"/>
          <p:cNvSpPr txBox="1"/>
          <p:nvPr>
            <p:ph idx="1" type="subTitle"/>
          </p:nvPr>
        </p:nvSpPr>
        <p:spPr>
          <a:xfrm>
            <a:off x="3926275" y="3556025"/>
            <a:ext cx="5351400" cy="846000"/>
          </a:xfrm>
          <a:prstGeom prst="rect">
            <a:avLst/>
          </a:prstGeom>
          <a:noFill/>
          <a:ln>
            <a:noFill/>
          </a:ln>
        </p:spPr>
        <p:txBody>
          <a:bodyPr anchorCtr="0" anchor="t" bIns="91425" lIns="91425" spcFirstLastPara="1" rIns="91425" wrap="square" tIns="91425">
            <a:normAutofit fontScale="70000"/>
          </a:bodyPr>
          <a:lstStyle/>
          <a:p>
            <a:pPr indent="0" lvl="0" marL="0" rtl="0" algn="just">
              <a:lnSpc>
                <a:spcPct val="100000"/>
              </a:lnSpc>
              <a:spcBef>
                <a:spcPts val="0"/>
              </a:spcBef>
              <a:spcAft>
                <a:spcPts val="0"/>
              </a:spcAft>
              <a:buClr>
                <a:schemeClr val="dk1"/>
              </a:buClr>
              <a:buSzPct val="100000"/>
              <a:buFont typeface="Arial"/>
              <a:buNone/>
            </a:pPr>
            <a:r>
              <a:rPr b="1" lang="en" sz="1900">
                <a:latin typeface="Maven Pro"/>
                <a:ea typeface="Maven Pro"/>
                <a:cs typeface="Maven Pro"/>
                <a:sym typeface="Maven Pro"/>
              </a:rPr>
              <a:t>Presented</a:t>
            </a:r>
            <a:r>
              <a:rPr b="1" lang="en" sz="1900">
                <a:latin typeface="Maven Pro"/>
                <a:ea typeface="Maven Pro"/>
                <a:cs typeface="Maven Pro"/>
                <a:sym typeface="Maven Pro"/>
              </a:rPr>
              <a:t> </a:t>
            </a:r>
            <a:r>
              <a:rPr b="1" lang="en" sz="1900">
                <a:latin typeface="Maven Pro"/>
                <a:ea typeface="Maven Pro"/>
                <a:cs typeface="Maven Pro"/>
                <a:sym typeface="Maven Pro"/>
              </a:rPr>
              <a:t>by Kopparthi Lakshmi Venkata Jayaram </a:t>
            </a:r>
            <a:r>
              <a:rPr b="1" lang="en" sz="1650">
                <a:latin typeface="Maven Pro"/>
                <a:ea typeface="Maven Pro"/>
                <a:cs typeface="Maven Pro"/>
                <a:sym typeface="Maven Pro"/>
              </a:rPr>
              <a:t>(192210314)</a:t>
            </a:r>
            <a:endParaRPr b="1" sz="1650">
              <a:latin typeface="Maven Pro"/>
              <a:ea typeface="Maven Pro"/>
              <a:cs typeface="Maven Pro"/>
              <a:sym typeface="Maven Pro"/>
            </a:endParaRPr>
          </a:p>
          <a:p>
            <a:pPr indent="0" lvl="0" marL="0" rtl="0" algn="just">
              <a:lnSpc>
                <a:spcPct val="100000"/>
              </a:lnSpc>
              <a:spcBef>
                <a:spcPts val="0"/>
              </a:spcBef>
              <a:spcAft>
                <a:spcPts val="0"/>
              </a:spcAft>
              <a:buClr>
                <a:schemeClr val="dk1"/>
              </a:buClr>
              <a:buSzPct val="100000"/>
              <a:buFont typeface="Arial"/>
              <a:buNone/>
            </a:pPr>
            <a:r>
              <a:rPr b="1" lang="en" sz="1900">
                <a:latin typeface="Maven Pro"/>
                <a:ea typeface="Maven Pro"/>
                <a:cs typeface="Maven Pro"/>
                <a:sym typeface="Maven Pro"/>
              </a:rPr>
              <a:t>CSE Department</a:t>
            </a:r>
            <a:endParaRPr b="1" sz="1900">
              <a:latin typeface="Maven Pro"/>
              <a:ea typeface="Maven Pro"/>
              <a:cs typeface="Maven Pro"/>
              <a:sym typeface="Maven Pro"/>
            </a:endParaRPr>
          </a:p>
          <a:p>
            <a:pPr indent="0" lvl="0" marL="0" rtl="0" algn="just">
              <a:lnSpc>
                <a:spcPct val="100000"/>
              </a:lnSpc>
              <a:spcBef>
                <a:spcPts val="0"/>
              </a:spcBef>
              <a:spcAft>
                <a:spcPts val="0"/>
              </a:spcAft>
              <a:buClr>
                <a:schemeClr val="dk1"/>
              </a:buClr>
              <a:buSzPct val="100000"/>
              <a:buFont typeface="Arial"/>
              <a:buNone/>
            </a:pPr>
            <a:r>
              <a:rPr b="1" lang="en" sz="1900">
                <a:latin typeface="Maven Pro"/>
                <a:ea typeface="Maven Pro"/>
                <a:cs typeface="Maven Pro"/>
                <a:sym typeface="Maven Pro"/>
              </a:rPr>
              <a:t>SIMATS Engineering</a:t>
            </a:r>
            <a:endParaRPr b="1"/>
          </a:p>
        </p:txBody>
      </p:sp>
      <p:pic>
        <p:nvPicPr>
          <p:cNvPr id="56" name="Google Shape;56;p13"/>
          <p:cNvPicPr preferRelativeResize="0"/>
          <p:nvPr/>
        </p:nvPicPr>
        <p:blipFill>
          <a:blip r:embed="rId3">
            <a:alphaModFix/>
          </a:blip>
          <a:stretch>
            <a:fillRect/>
          </a:stretch>
        </p:blipFill>
        <p:spPr>
          <a:xfrm>
            <a:off x="147400" y="169850"/>
            <a:ext cx="3778875" cy="46147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361250"/>
            <a:ext cx="8520600" cy="80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0000"/>
              </a:lnSpc>
              <a:spcBef>
                <a:spcPts val="0"/>
              </a:spcBef>
              <a:spcAft>
                <a:spcPts val="0"/>
              </a:spcAft>
              <a:buClr>
                <a:schemeClr val="dk1"/>
              </a:buClr>
              <a:buSzPct val="107692"/>
              <a:buFont typeface="Arial"/>
              <a:buNone/>
            </a:pPr>
            <a:r>
              <a:rPr b="1" lang="en" sz="2600">
                <a:latin typeface="Maven Pro"/>
                <a:ea typeface="Maven Pro"/>
                <a:cs typeface="Maven Pro"/>
                <a:sym typeface="Maven Pro"/>
              </a:rPr>
              <a:t>      LINKEDIN ARTICLE:</a:t>
            </a:r>
            <a:r>
              <a:rPr b="1" lang="en" sz="2600">
                <a:solidFill>
                  <a:srgbClr val="252D37"/>
                </a:solidFill>
                <a:latin typeface="Maven Pro"/>
                <a:ea typeface="Maven Pro"/>
                <a:cs typeface="Maven Pro"/>
                <a:sym typeface="Maven Pro"/>
              </a:rPr>
              <a:t> </a:t>
            </a:r>
            <a:r>
              <a:rPr lang="en" sz="2500"/>
              <a:t>Financial Literacy With AI Integration</a:t>
            </a:r>
            <a:endParaRPr sz="2500"/>
          </a:p>
        </p:txBody>
      </p:sp>
      <p:sp>
        <p:nvSpPr>
          <p:cNvPr id="62" name="Google Shape;62;p14"/>
          <p:cNvSpPr txBox="1"/>
          <p:nvPr>
            <p:ph idx="1" type="body"/>
          </p:nvPr>
        </p:nvSpPr>
        <p:spPr>
          <a:xfrm>
            <a:off x="311700" y="761275"/>
            <a:ext cx="8520600" cy="34998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t>This AI-Powered Financial Literacy App is designed to make financial education more accessible, practical, and easy to understand for everyone. Many people struggle to interpret financial concepts like investments, taxation and insurance and online information often feels overwhelming or unreliable. This app addresses that challenge by offering an intelligent AI chatbot that explains financial topics in simple language, provides personalized guidance based on user goals, and supports smarter decision-making through tools like EMI, SIP and tax calculators. Alongside the chatbot, a structured learning hub offers beginner-to-expert modules, daily financial tips, and interactive content to build strong financial foundations.</a:t>
            </a:r>
            <a:endParaRPr sz="1500"/>
          </a:p>
          <a:p>
            <a:pPr indent="0" lvl="0" marL="0" rtl="0" algn="l">
              <a:spcBef>
                <a:spcPts val="1200"/>
              </a:spcBef>
              <a:spcAft>
                <a:spcPts val="0"/>
              </a:spcAft>
              <a:buClr>
                <a:schemeClr val="dk1"/>
              </a:buClr>
              <a:buSzPts val="1100"/>
              <a:buFont typeface="Arial"/>
              <a:buNone/>
            </a:pPr>
            <a:r>
              <a:rPr lang="en" sz="1500"/>
              <a:t>The final product delivers a clean, user-friendly experience that helps users understand money management, build disciplined financial habits, and confidently plan for their future. This project allowed me to combine AI, financial domain knowledge, and user-centered design to create a meaningful solution that empowers individuals to take control of their financial well-being.</a:t>
            </a:r>
            <a:endParaRPr sz="1500"/>
          </a:p>
          <a:p>
            <a:pPr indent="0" lvl="0" marL="0" rtl="0" algn="just">
              <a:lnSpc>
                <a:spcPct val="115000"/>
              </a:lnSpc>
              <a:spcBef>
                <a:spcPts val="1200"/>
              </a:spcBef>
              <a:spcAft>
                <a:spcPts val="0"/>
              </a:spcAft>
              <a:buSzPts val="1300"/>
              <a:buNone/>
            </a:pPr>
            <a:r>
              <a:t/>
            </a:r>
            <a:endParaRPr sz="1500"/>
          </a:p>
          <a:p>
            <a:pPr indent="0" lvl="0" marL="0" rtl="0" algn="l">
              <a:lnSpc>
                <a:spcPct val="115000"/>
              </a:lnSpc>
              <a:spcBef>
                <a:spcPts val="1200"/>
              </a:spcBef>
              <a:spcAft>
                <a:spcPts val="0"/>
              </a:spcAft>
              <a:buSzPts val="1300"/>
              <a:buNone/>
            </a:pPr>
            <a:r>
              <a:rPr b="1" lang="en" sz="1500"/>
              <a:t>                    </a:t>
            </a:r>
            <a:endParaRPr b="1" sz="1500"/>
          </a:p>
          <a:p>
            <a:pPr indent="0" lvl="0" marL="0" rtl="0" algn="l">
              <a:lnSpc>
                <a:spcPct val="100000"/>
              </a:lnSpc>
              <a:spcBef>
                <a:spcPts val="1200"/>
              </a:spcBef>
              <a:spcAft>
                <a:spcPts val="0"/>
              </a:spcAft>
              <a:buNone/>
            </a:pPr>
            <a:r>
              <a:t/>
            </a:r>
            <a:endParaRPr sz="1200">
              <a:solidFill>
                <a:schemeClr val="lt1"/>
              </a:solidFill>
              <a:latin typeface="Lato"/>
              <a:ea typeface="Lato"/>
              <a:cs typeface="Lato"/>
              <a:sym typeface="Lato"/>
            </a:endParaRPr>
          </a:p>
          <a:p>
            <a:pPr indent="0" lvl="0" marL="0" rtl="0" algn="l">
              <a:lnSpc>
                <a:spcPct val="115000"/>
              </a:lnSpc>
              <a:spcBef>
                <a:spcPts val="1200"/>
              </a:spcBef>
              <a:spcAft>
                <a:spcPts val="1200"/>
              </a:spcAft>
              <a:buSzPts val="1300"/>
              <a:buNone/>
            </a:pPr>
            <a:r>
              <a:t/>
            </a:r>
            <a:endParaRPr b="1" sz="1500"/>
          </a:p>
        </p:txBody>
      </p:sp>
      <p:pic>
        <p:nvPicPr>
          <p:cNvPr descr="File:LinkedIn icon.svg - Wikipedia" id="63" name="Google Shape;63;p14"/>
          <p:cNvPicPr preferRelativeResize="0"/>
          <p:nvPr/>
        </p:nvPicPr>
        <p:blipFill rotWithShape="1">
          <a:blip r:embed="rId3">
            <a:alphaModFix/>
          </a:blip>
          <a:srcRect b="0" l="0" r="0" t="0"/>
          <a:stretch/>
        </p:blipFill>
        <p:spPr>
          <a:xfrm>
            <a:off x="955550" y="4510277"/>
            <a:ext cx="400348" cy="400348"/>
          </a:xfrm>
          <a:prstGeom prst="rect">
            <a:avLst/>
          </a:prstGeom>
          <a:noFill/>
          <a:ln>
            <a:noFill/>
          </a:ln>
        </p:spPr>
      </p:pic>
      <p:sp>
        <p:nvSpPr>
          <p:cNvPr id="64" name="Google Shape;64;p14"/>
          <p:cNvSpPr txBox="1"/>
          <p:nvPr/>
        </p:nvSpPr>
        <p:spPr>
          <a:xfrm>
            <a:off x="1488425" y="4347350"/>
            <a:ext cx="7413900" cy="48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4"/>
              </a:rPr>
              <a:t>https://www.linkedin.com/pulse/money-mentor-intelligent-financial-literacy-ai-tools-kopparthi-sybqc</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80002"/>
              </a:lnSpc>
              <a:spcBef>
                <a:spcPts val="0"/>
              </a:spcBef>
              <a:spcAft>
                <a:spcPts val="0"/>
              </a:spcAft>
              <a:buClr>
                <a:schemeClr val="dk1"/>
              </a:buClr>
              <a:buSzPct val="100000"/>
              <a:buFont typeface="Arial"/>
              <a:buNone/>
            </a:pPr>
            <a:r>
              <a:rPr b="1" lang="en" sz="3700">
                <a:latin typeface="Maven Pro"/>
                <a:ea typeface="Maven Pro"/>
                <a:cs typeface="Maven Pro"/>
                <a:sym typeface="Maven Pro"/>
              </a:rPr>
              <a:t>PROJECT OVERVIEW</a:t>
            </a:r>
            <a:endParaRPr/>
          </a:p>
        </p:txBody>
      </p:sp>
      <p:sp>
        <p:nvSpPr>
          <p:cNvPr id="70" name="Google Shape;70;p15"/>
          <p:cNvSpPr txBox="1"/>
          <p:nvPr>
            <p:ph idx="1" type="body"/>
          </p:nvPr>
        </p:nvSpPr>
        <p:spPr>
          <a:xfrm>
            <a:off x="311700" y="1307850"/>
            <a:ext cx="8349900" cy="32610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just">
              <a:lnSpc>
                <a:spcPct val="115000"/>
              </a:lnSpc>
              <a:spcBef>
                <a:spcPts val="1200"/>
              </a:spcBef>
              <a:spcAft>
                <a:spcPts val="0"/>
              </a:spcAft>
              <a:buSzPct val="68421"/>
              <a:buNone/>
            </a:pPr>
            <a:r>
              <a:rPr b="1" lang="en" sz="1900"/>
              <a:t>THE PRODUCT:</a:t>
            </a:r>
            <a:endParaRPr b="1" sz="1600"/>
          </a:p>
          <a:p>
            <a:pPr indent="0" lvl="0" marL="0" rtl="0" algn="just">
              <a:lnSpc>
                <a:spcPct val="115000"/>
              </a:lnSpc>
              <a:spcBef>
                <a:spcPts val="1200"/>
              </a:spcBef>
              <a:spcAft>
                <a:spcPts val="0"/>
              </a:spcAft>
              <a:buSzPct val="81250"/>
              <a:buNone/>
            </a:pPr>
            <a:r>
              <a:rPr lang="en" sz="1600"/>
              <a:t>The AI-Powered Financial Literacy App is an intelligent mobile application designed to simplify financial education and help users make informed financial decisions. It combines an AI chatbot that explains financial concepts in simple language with structured learning modules, smart financial calculators (EMI, SIP, tax), goal tracking, daily financial tips and Live rates of Gold and Silver. The app provides personalized guidance based on user profiles, helping individuals improve budgeting, investing, insurance planning, and long-term wealth management. Built with a focus on clarity, security, and user-friendly design, the project aims to promote financial awareness and empower users to confidently manage their financial future.</a:t>
            </a:r>
            <a:endParaRPr sz="1600"/>
          </a:p>
          <a:p>
            <a:pPr indent="0" lvl="0" marL="0" rtl="0" algn="just">
              <a:lnSpc>
                <a:spcPct val="115000"/>
              </a:lnSpc>
              <a:spcBef>
                <a:spcPts val="1200"/>
              </a:spcBef>
              <a:spcAft>
                <a:spcPts val="0"/>
              </a:spcAft>
              <a:buClr>
                <a:schemeClr val="dk1"/>
              </a:buClr>
              <a:buSzPct val="68750"/>
              <a:buFont typeface="Arial"/>
              <a:buNone/>
            </a:pPr>
            <a:r>
              <a:t/>
            </a:r>
            <a:endParaRPr sz="1600"/>
          </a:p>
          <a:p>
            <a:pPr indent="0" lvl="0" marL="0" rtl="0" algn="l">
              <a:lnSpc>
                <a:spcPct val="115000"/>
              </a:lnSpc>
              <a:spcBef>
                <a:spcPts val="1400"/>
              </a:spcBef>
              <a:spcAft>
                <a:spcPts val="400"/>
              </a:spcAft>
              <a:buSzPct val="81250"/>
              <a:buNone/>
            </a:pPr>
            <a:r>
              <a:rPr b="1" lang="en" sz="1600"/>
              <a:t>PROJECT TIMELINE: 6 WEEKS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1145150" y="428400"/>
            <a:ext cx="7038900" cy="914100"/>
          </a:xfrm>
          <a:prstGeom prst="rect">
            <a:avLst/>
          </a:prstGeom>
          <a:noFill/>
          <a:ln>
            <a:noFill/>
          </a:ln>
        </p:spPr>
        <p:txBody>
          <a:bodyPr anchorCtr="0" anchor="t" bIns="91425" lIns="91425" spcFirstLastPara="1" rIns="91425" wrap="square" tIns="91425">
            <a:normAutofit/>
          </a:bodyPr>
          <a:lstStyle/>
          <a:p>
            <a:pPr indent="0" lvl="0" marL="0" rtl="0" algn="ctr">
              <a:lnSpc>
                <a:spcPct val="80002"/>
              </a:lnSpc>
              <a:spcBef>
                <a:spcPts val="0"/>
              </a:spcBef>
              <a:spcAft>
                <a:spcPts val="0"/>
              </a:spcAft>
              <a:buClr>
                <a:schemeClr val="dk1"/>
              </a:buClr>
              <a:buSzPts val="1100"/>
              <a:buFont typeface="Arial"/>
              <a:buNone/>
            </a:pPr>
            <a:r>
              <a:rPr b="1" lang="en" sz="3700">
                <a:latin typeface="Maven Pro"/>
                <a:ea typeface="Maven Pro"/>
                <a:cs typeface="Maven Pro"/>
                <a:sym typeface="Maven Pro"/>
              </a:rPr>
              <a:t>PROBLEM STATEMENT</a:t>
            </a:r>
            <a:endParaRPr/>
          </a:p>
        </p:txBody>
      </p:sp>
      <p:sp>
        <p:nvSpPr>
          <p:cNvPr id="76" name="Google Shape;76;p16"/>
          <p:cNvSpPr txBox="1"/>
          <p:nvPr>
            <p:ph idx="1" type="body"/>
          </p:nvPr>
        </p:nvSpPr>
        <p:spPr>
          <a:xfrm>
            <a:off x="992900" y="1567550"/>
            <a:ext cx="7343400" cy="29112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just">
              <a:lnSpc>
                <a:spcPct val="115000"/>
              </a:lnSpc>
              <a:spcBef>
                <a:spcPts val="0"/>
              </a:spcBef>
              <a:spcAft>
                <a:spcPts val="1200"/>
              </a:spcAft>
              <a:buSzPct val="81250"/>
              <a:buNone/>
            </a:pPr>
            <a:r>
              <a:rPr lang="en" sz="1600"/>
              <a:t>Devi, a young working professional, often feels confused about managing his finances. When she hears terms like SIP, tax deductions, credit score, or insurance coverage, she struggles to understand whether she is making the right financial decisions. Due to overwhelming and sometimes unreliable online information, complex financial jargon, and lack of proper guidance, she feels uncertain and anxious about investments, loans, and long-term planning. Consulting a financial advisor for every small doubt is expensive and not always practical, yet ignoring financial planning can lead to poor money management and missed opportunities. Existing finance apps mostly focus on transactions or generic content and do not provide clear, personalized, and easy-to-understand financial guidance. This gap leaves users like Devi without a trustworthy and intelligent source of financial support, making it difficult for them to confidently manage their financial future.</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Clr>
                <a:schemeClr val="dk1"/>
              </a:buClr>
              <a:buSzPts val="4000"/>
              <a:buFont typeface="Arial"/>
              <a:buNone/>
            </a:pPr>
            <a:r>
              <a:rPr b="1" lang="en" sz="3300">
                <a:latin typeface="Maven Pro"/>
                <a:ea typeface="Maven Pro"/>
                <a:cs typeface="Maven Pro"/>
                <a:sym typeface="Maven Pro"/>
              </a:rPr>
              <a:t>PROJECT OVERVIEW</a:t>
            </a:r>
            <a:endParaRPr sz="3300"/>
          </a:p>
        </p:txBody>
      </p:sp>
      <p:sp>
        <p:nvSpPr>
          <p:cNvPr id="82" name="Google Shape;82;p17"/>
          <p:cNvSpPr txBox="1"/>
          <p:nvPr>
            <p:ph idx="1" type="body"/>
          </p:nvPr>
        </p:nvSpPr>
        <p:spPr>
          <a:xfrm>
            <a:off x="4572000" y="1367075"/>
            <a:ext cx="4360200" cy="356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600"/>
              <a:t>GOAL:</a:t>
            </a:r>
            <a:endParaRPr b="1" sz="1600"/>
          </a:p>
          <a:p>
            <a:pPr indent="-330200" lvl="0" marL="457200" rtl="0" algn="just">
              <a:spcBef>
                <a:spcPts val="1200"/>
              </a:spcBef>
              <a:spcAft>
                <a:spcPts val="0"/>
              </a:spcAft>
              <a:buSzPts val="1600"/>
              <a:buChar char="●"/>
            </a:pPr>
            <a:r>
              <a:rPr lang="en" sz="1600"/>
              <a:t>Offer structured financial education in a simple and user-friendly mobile app.</a:t>
            </a:r>
            <a:endParaRPr sz="1600"/>
          </a:p>
          <a:p>
            <a:pPr indent="-330200" lvl="0" marL="457200" rtl="0" algn="just">
              <a:spcBef>
                <a:spcPts val="0"/>
              </a:spcBef>
              <a:spcAft>
                <a:spcPts val="0"/>
              </a:spcAft>
              <a:buSzPts val="1600"/>
              <a:buChar char="●"/>
            </a:pPr>
            <a:r>
              <a:rPr lang="en" sz="1600"/>
              <a:t>Enable users to use smart financial tools (EMI, SIP, tax calculators) for better decision-making.</a:t>
            </a:r>
            <a:endParaRPr sz="1600"/>
          </a:p>
          <a:p>
            <a:pPr indent="-330200" lvl="0" marL="457200" rtl="0" algn="just">
              <a:spcBef>
                <a:spcPts val="0"/>
              </a:spcBef>
              <a:spcAft>
                <a:spcPts val="0"/>
              </a:spcAft>
              <a:buSzPts val="1600"/>
              <a:buChar char="●"/>
            </a:pPr>
            <a:r>
              <a:rPr lang="en" sz="1600"/>
              <a:t>Empower individuals to manage budgeting, investments, insurance, and long-term financial goals confidently.</a:t>
            </a:r>
            <a:endParaRPr sz="1600"/>
          </a:p>
          <a:p>
            <a:pPr indent="-330200" lvl="0" marL="457200" rtl="0" algn="just">
              <a:spcBef>
                <a:spcPts val="0"/>
              </a:spcBef>
              <a:spcAft>
                <a:spcPts val="0"/>
              </a:spcAft>
              <a:buSzPts val="1600"/>
              <a:buChar char="●"/>
            </a:pPr>
            <a:r>
              <a:rPr lang="en" sz="1600"/>
              <a:t>Provide an AI-powered chatbot that delivers clear, personalized financial guidance anytime.</a:t>
            </a:r>
            <a:endParaRPr sz="1600"/>
          </a:p>
          <a:p>
            <a:pPr indent="0" lvl="0" marL="0" rtl="0" algn="l">
              <a:lnSpc>
                <a:spcPct val="115000"/>
              </a:lnSpc>
              <a:spcBef>
                <a:spcPts val="1200"/>
              </a:spcBef>
              <a:spcAft>
                <a:spcPts val="1200"/>
              </a:spcAft>
              <a:buSzPts val="1405"/>
              <a:buNone/>
            </a:pPr>
            <a:r>
              <a:t/>
            </a:r>
            <a:endParaRPr sz="1600"/>
          </a:p>
        </p:txBody>
      </p:sp>
      <p:sp>
        <p:nvSpPr>
          <p:cNvPr id="83" name="Google Shape;83;p17"/>
          <p:cNvSpPr txBox="1"/>
          <p:nvPr>
            <p:ph idx="1" type="body"/>
          </p:nvPr>
        </p:nvSpPr>
        <p:spPr>
          <a:xfrm>
            <a:off x="346350" y="1443425"/>
            <a:ext cx="39447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800"/>
              </a:spcBef>
              <a:spcAft>
                <a:spcPts val="0"/>
              </a:spcAft>
              <a:buClr>
                <a:schemeClr val="dk1"/>
              </a:buClr>
              <a:buSzPts val="1100"/>
              <a:buFont typeface="Arial"/>
              <a:buNone/>
            </a:pPr>
            <a:r>
              <a:rPr b="1" lang="en" sz="1700"/>
              <a:t>PROBLEM:</a:t>
            </a:r>
            <a:endParaRPr b="1" sz="1700"/>
          </a:p>
          <a:p>
            <a:pPr indent="-330200" lvl="0" marL="457200" rtl="0" algn="just">
              <a:spcBef>
                <a:spcPts val="1200"/>
              </a:spcBef>
              <a:spcAft>
                <a:spcPts val="0"/>
              </a:spcAft>
              <a:buSzPts val="1600"/>
              <a:buChar char="●"/>
            </a:pPr>
            <a:r>
              <a:rPr lang="en" sz="1600"/>
              <a:t>Lack of reliable and instant financial guidance for everyday money decisions.</a:t>
            </a:r>
            <a:endParaRPr sz="1600"/>
          </a:p>
          <a:p>
            <a:pPr indent="-330200" lvl="0" marL="457200" rtl="0" algn="just">
              <a:spcBef>
                <a:spcPts val="0"/>
              </a:spcBef>
              <a:spcAft>
                <a:spcPts val="0"/>
              </a:spcAft>
              <a:buSzPts val="1600"/>
              <a:buChar char="●"/>
            </a:pPr>
            <a:r>
              <a:rPr lang="en" sz="1600"/>
              <a:t>Online financial information is overwhelming, complex, and often not personalized.</a:t>
            </a:r>
            <a:endParaRPr sz="1600"/>
          </a:p>
          <a:p>
            <a:pPr indent="-330200" lvl="0" marL="457200" rtl="0" algn="just">
              <a:spcBef>
                <a:spcPts val="0"/>
              </a:spcBef>
              <a:spcAft>
                <a:spcPts val="0"/>
              </a:spcAft>
              <a:buSzPts val="1600"/>
              <a:buChar char="●"/>
            </a:pPr>
            <a:r>
              <a:rPr lang="en" sz="1600"/>
              <a:t>Users struggle to understand concepts like investments, taxation and insurance.</a:t>
            </a:r>
            <a:endParaRPr sz="1600"/>
          </a:p>
          <a:p>
            <a:pPr indent="-330200" lvl="0" marL="457200" rtl="0" algn="just">
              <a:spcBef>
                <a:spcPts val="0"/>
              </a:spcBef>
              <a:spcAft>
                <a:spcPts val="0"/>
              </a:spcAft>
              <a:buSzPts val="1600"/>
              <a:buChar char="●"/>
            </a:pPr>
            <a:r>
              <a:rPr lang="en" sz="1600"/>
              <a:t>Consulting financial advisors for minor doubts is expensive and not always accessible.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80000"/>
              </a:lnSpc>
              <a:spcBef>
                <a:spcPts val="0"/>
              </a:spcBef>
              <a:spcAft>
                <a:spcPts val="0"/>
              </a:spcAft>
              <a:buClr>
                <a:schemeClr val="dk1"/>
              </a:buClr>
              <a:buSzPct val="33333"/>
              <a:buFont typeface="Arial"/>
              <a:buNone/>
            </a:pPr>
            <a:r>
              <a:rPr b="1" lang="en" sz="3300">
                <a:latin typeface="Maven Pro"/>
                <a:ea typeface="Maven Pro"/>
                <a:cs typeface="Maven Pro"/>
                <a:sym typeface="Maven Pro"/>
              </a:rPr>
              <a:t>PROJECT OVERVIEW</a:t>
            </a:r>
            <a:endParaRPr/>
          </a:p>
        </p:txBody>
      </p:sp>
      <p:sp>
        <p:nvSpPr>
          <p:cNvPr id="89" name="Google Shape;89;p18"/>
          <p:cNvSpPr txBox="1"/>
          <p:nvPr>
            <p:ph idx="1" type="body"/>
          </p:nvPr>
        </p:nvSpPr>
        <p:spPr>
          <a:xfrm>
            <a:off x="4572000" y="1380500"/>
            <a:ext cx="4260300" cy="3447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Clr>
                <a:schemeClr val="dk1"/>
              </a:buClr>
              <a:buSzPts val="1100"/>
              <a:buFont typeface="Arial"/>
              <a:buNone/>
            </a:pPr>
            <a:r>
              <a:rPr b="1" lang="en" sz="1700"/>
              <a:t>My Responsibilities:</a:t>
            </a:r>
            <a:endParaRPr b="1" sz="1700"/>
          </a:p>
          <a:p>
            <a:pPr indent="-323850" lvl="0" marL="457200" rtl="0" algn="just">
              <a:spcBef>
                <a:spcPts val="1200"/>
              </a:spcBef>
              <a:spcAft>
                <a:spcPts val="0"/>
              </a:spcAft>
              <a:buSzPts val="1500"/>
              <a:buChar char="●"/>
            </a:pPr>
            <a:r>
              <a:rPr lang="en" sz="1500"/>
              <a:t>Understand user financial challenges and design clear, helpful features.</a:t>
            </a:r>
            <a:endParaRPr sz="1500"/>
          </a:p>
          <a:p>
            <a:pPr indent="-323850" lvl="0" marL="457200" rtl="0" algn="just">
              <a:spcBef>
                <a:spcPts val="0"/>
              </a:spcBef>
              <a:spcAft>
                <a:spcPts val="0"/>
              </a:spcAft>
              <a:buSzPts val="1500"/>
              <a:buChar char="●"/>
            </a:pPr>
            <a:r>
              <a:rPr lang="en" sz="1500"/>
              <a:t>Build intuitive screens and AI logic for financial guidance and education.</a:t>
            </a:r>
            <a:endParaRPr sz="1500"/>
          </a:p>
          <a:p>
            <a:pPr indent="-323850" lvl="0" marL="457200" rtl="0" algn="just">
              <a:spcBef>
                <a:spcPts val="0"/>
              </a:spcBef>
              <a:spcAft>
                <a:spcPts val="0"/>
              </a:spcAft>
              <a:buSzPts val="1500"/>
              <a:buChar char="●"/>
            </a:pPr>
            <a:r>
              <a:rPr lang="en" sz="1500"/>
              <a:t>Ensure the system remains secure, accurate, fast, and accessible for all users.</a:t>
            </a:r>
            <a:endParaRPr sz="1500"/>
          </a:p>
          <a:p>
            <a:pPr indent="-323850" lvl="0" marL="457200" rtl="0" algn="just">
              <a:lnSpc>
                <a:spcPct val="115000"/>
              </a:lnSpc>
              <a:spcBef>
                <a:spcPts val="0"/>
              </a:spcBef>
              <a:spcAft>
                <a:spcPts val="0"/>
              </a:spcAft>
              <a:buSzPts val="1500"/>
              <a:buChar char="●"/>
            </a:pPr>
            <a:r>
              <a:rPr lang="en" sz="1500"/>
              <a:t>Implement financial calculation algorithms (EMI, SIP, tax).</a:t>
            </a:r>
            <a:endParaRPr sz="1500"/>
          </a:p>
        </p:txBody>
      </p:sp>
      <p:sp>
        <p:nvSpPr>
          <p:cNvPr id="90" name="Google Shape;90;p18"/>
          <p:cNvSpPr txBox="1"/>
          <p:nvPr>
            <p:ph idx="1" type="body"/>
          </p:nvPr>
        </p:nvSpPr>
        <p:spPr>
          <a:xfrm>
            <a:off x="380975" y="1380500"/>
            <a:ext cx="4055400" cy="358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Clr>
                <a:schemeClr val="dk1"/>
              </a:buClr>
              <a:buSzPts val="1100"/>
              <a:buFont typeface="Arial"/>
              <a:buNone/>
            </a:pPr>
            <a:r>
              <a:rPr b="1" lang="en" sz="1700"/>
              <a:t>My Role:</a:t>
            </a:r>
            <a:endParaRPr b="1" sz="1700"/>
          </a:p>
          <a:p>
            <a:pPr indent="-323850" lvl="0" marL="457200" rtl="0" algn="just">
              <a:spcBef>
                <a:spcPts val="1200"/>
              </a:spcBef>
              <a:spcAft>
                <a:spcPts val="0"/>
              </a:spcAft>
              <a:buSzPts val="1500"/>
              <a:buChar char="●"/>
            </a:pPr>
            <a:r>
              <a:rPr lang="en" sz="1500"/>
              <a:t>Developed the app to provide users with instant, reliable financial guidance.</a:t>
            </a:r>
            <a:endParaRPr sz="1500"/>
          </a:p>
          <a:p>
            <a:pPr indent="-323850" lvl="0" marL="457200" rtl="0" algn="just">
              <a:spcBef>
                <a:spcPts val="0"/>
              </a:spcBef>
              <a:spcAft>
                <a:spcPts val="0"/>
              </a:spcAft>
              <a:buSzPts val="1500"/>
              <a:buChar char="●"/>
            </a:pPr>
            <a:r>
              <a:rPr lang="en" sz="1500"/>
              <a:t>Designed and implemented an AI chatbot that simplifies complex financial concepts for non-experts.</a:t>
            </a:r>
            <a:endParaRPr sz="1500"/>
          </a:p>
          <a:p>
            <a:pPr indent="-323850" lvl="0" marL="457200" rtl="0" algn="just">
              <a:lnSpc>
                <a:spcPct val="115000"/>
              </a:lnSpc>
              <a:spcBef>
                <a:spcPts val="0"/>
              </a:spcBef>
              <a:spcAft>
                <a:spcPts val="0"/>
              </a:spcAft>
              <a:buSzPts val="1500"/>
              <a:buChar char="●"/>
            </a:pPr>
            <a:r>
              <a:rPr lang="en" sz="1500"/>
              <a:t>Created a smooth, user-friendly experience for learning, planning, and managing personal finances.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9"/>
          <p:cNvSpPr txBox="1"/>
          <p:nvPr/>
        </p:nvSpPr>
        <p:spPr>
          <a:xfrm>
            <a:off x="527750" y="1474724"/>
            <a:ext cx="3463800" cy="1539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600"/>
              <a:buFont typeface="Arial"/>
              <a:buNone/>
            </a:pPr>
            <a:r>
              <a:t/>
            </a:r>
            <a:endParaRPr b="0" i="0" sz="1000" u="none" cap="none" strike="noStrike">
              <a:solidFill>
                <a:srgbClr val="252D37"/>
              </a:solidFill>
              <a:latin typeface="Times New Roman"/>
              <a:ea typeface="Times New Roman"/>
              <a:cs typeface="Times New Roman"/>
              <a:sym typeface="Times New Roman"/>
            </a:endParaRPr>
          </a:p>
        </p:txBody>
      </p:sp>
      <p:sp>
        <p:nvSpPr>
          <p:cNvPr id="96" name="Google Shape;96;p19"/>
          <p:cNvSpPr txBox="1"/>
          <p:nvPr/>
        </p:nvSpPr>
        <p:spPr>
          <a:xfrm>
            <a:off x="662550" y="228675"/>
            <a:ext cx="3786900" cy="406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4000"/>
              <a:buFont typeface="Arial"/>
              <a:buNone/>
            </a:pPr>
            <a:r>
              <a:rPr b="1" i="0" lang="en" sz="3300" u="none" cap="none" strike="noStrike">
                <a:solidFill>
                  <a:schemeClr val="dk1"/>
                </a:solidFill>
                <a:latin typeface="Maven Pro"/>
                <a:ea typeface="Maven Pro"/>
                <a:cs typeface="Maven Pro"/>
                <a:sym typeface="Maven Pro"/>
              </a:rPr>
              <a:t>GANTT CHART</a:t>
            </a:r>
            <a:endParaRPr b="0" i="0" sz="3300" u="none" cap="none" strike="noStrike">
              <a:solidFill>
                <a:schemeClr val="dk1"/>
              </a:solidFill>
              <a:latin typeface="Arial"/>
              <a:ea typeface="Arial"/>
              <a:cs typeface="Arial"/>
              <a:sym typeface="Arial"/>
            </a:endParaRPr>
          </a:p>
        </p:txBody>
      </p:sp>
      <p:sp>
        <p:nvSpPr>
          <p:cNvPr id="97" name="Google Shape;97;p19"/>
          <p:cNvSpPr txBox="1"/>
          <p:nvPr/>
        </p:nvSpPr>
        <p:spPr>
          <a:xfrm>
            <a:off x="5145775" y="1459284"/>
            <a:ext cx="3600900" cy="1539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600"/>
              <a:buFont typeface="Arial"/>
              <a:buNone/>
            </a:pPr>
            <a:r>
              <a:t/>
            </a:r>
            <a:endParaRPr b="0" i="0" sz="1000" u="none" cap="none" strike="noStrike">
              <a:solidFill>
                <a:srgbClr val="252D37"/>
              </a:solidFill>
              <a:latin typeface="Times New Roman"/>
              <a:ea typeface="Times New Roman"/>
              <a:cs typeface="Times New Roman"/>
              <a:sym typeface="Times New Roman"/>
            </a:endParaRPr>
          </a:p>
        </p:txBody>
      </p:sp>
      <p:graphicFrame>
        <p:nvGraphicFramePr>
          <p:cNvPr id="98" name="Google Shape;98;p19"/>
          <p:cNvGraphicFramePr/>
          <p:nvPr/>
        </p:nvGraphicFramePr>
        <p:xfrm>
          <a:off x="662538" y="731675"/>
          <a:ext cx="3000000" cy="3000000"/>
        </p:xfrm>
        <a:graphic>
          <a:graphicData uri="http://schemas.openxmlformats.org/drawingml/2006/table">
            <a:tbl>
              <a:tblPr>
                <a:noFill/>
                <a:tableStyleId>{6CF6ADCB-353B-41D2-99F0-C78000F2A1C8}</a:tableStyleId>
              </a:tblPr>
              <a:tblGrid>
                <a:gridCol w="1486650"/>
                <a:gridCol w="1053500"/>
                <a:gridCol w="1007625"/>
                <a:gridCol w="935450"/>
                <a:gridCol w="981550"/>
                <a:gridCol w="1033200"/>
                <a:gridCol w="1135900"/>
              </a:tblGrid>
              <a:tr h="427950">
                <a:tc>
                  <a:txBody>
                    <a:bodyPr/>
                    <a:lstStyle/>
                    <a:p>
                      <a:pPr indent="0" lvl="0" marL="0" marR="0" rtl="0" algn="ctr">
                        <a:lnSpc>
                          <a:spcPct val="100000"/>
                        </a:lnSpc>
                        <a:spcBef>
                          <a:spcPts val="0"/>
                        </a:spcBef>
                        <a:spcAft>
                          <a:spcPts val="0"/>
                        </a:spcAft>
                        <a:buClr>
                          <a:srgbClr val="000000"/>
                        </a:buClr>
                        <a:buSzPts val="1600"/>
                        <a:buFont typeface="Arial"/>
                        <a:buNone/>
                      </a:pPr>
                      <a:r>
                        <a:rPr b="1" lang="en" sz="1000" u="none" cap="none" strike="noStrike">
                          <a:solidFill>
                            <a:schemeClr val="dk1"/>
                          </a:solidFill>
                          <a:latin typeface="Times New Roman"/>
                          <a:ea typeface="Times New Roman"/>
                          <a:cs typeface="Times New Roman"/>
                          <a:sym typeface="Times New Roman"/>
                        </a:rPr>
                        <a:t>Task</a:t>
                      </a:r>
                      <a:endParaRPr b="1"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latin typeface="Times New Roman"/>
                          <a:ea typeface="Times New Roman"/>
                          <a:cs typeface="Times New Roman"/>
                          <a:sym typeface="Times New Roman"/>
                        </a:rPr>
                        <a:t>Week 1</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latin typeface="Times New Roman"/>
                          <a:ea typeface="Times New Roman"/>
                          <a:cs typeface="Times New Roman"/>
                          <a:sym typeface="Times New Roman"/>
                        </a:rPr>
                        <a:t>Week 2</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latin typeface="Times New Roman"/>
                          <a:ea typeface="Times New Roman"/>
                          <a:cs typeface="Times New Roman"/>
                          <a:sym typeface="Times New Roman"/>
                        </a:rPr>
                        <a:t>Week 3</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latin typeface="Times New Roman"/>
                          <a:ea typeface="Times New Roman"/>
                          <a:cs typeface="Times New Roman"/>
                          <a:sym typeface="Times New Roman"/>
                        </a:rPr>
                        <a:t>Week 4</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latin typeface="Times New Roman"/>
                          <a:ea typeface="Times New Roman"/>
                          <a:cs typeface="Times New Roman"/>
                          <a:sym typeface="Times New Roman"/>
                        </a:rPr>
                        <a:t>Week 5</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latin typeface="Times New Roman"/>
                          <a:ea typeface="Times New Roman"/>
                          <a:cs typeface="Times New Roman"/>
                          <a:sym typeface="Times New Roman"/>
                        </a:rPr>
                        <a:t>Week 6</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51750">
                <a:tc>
                  <a:txBody>
                    <a:bodyPr/>
                    <a:lstStyle/>
                    <a:p>
                      <a:pPr indent="0" lvl="0" marL="0" marR="0" rtl="0" algn="l">
                        <a:lnSpc>
                          <a:spcPct val="100000"/>
                        </a:lnSpc>
                        <a:spcBef>
                          <a:spcPts val="0"/>
                        </a:spcBef>
                        <a:spcAft>
                          <a:spcPts val="0"/>
                        </a:spcAft>
                        <a:buClr>
                          <a:srgbClr val="000000"/>
                        </a:buClr>
                        <a:buSzPts val="1200"/>
                        <a:buFont typeface="Arial"/>
                        <a:buNone/>
                      </a:pPr>
                      <a:r>
                        <a:rPr lang="en" sz="1000" u="none" cap="none" strike="noStrike">
                          <a:solidFill>
                            <a:schemeClr val="dk1"/>
                          </a:solidFill>
                          <a:latin typeface="Times New Roman"/>
                          <a:ea typeface="Times New Roman"/>
                          <a:cs typeface="Times New Roman"/>
                          <a:sym typeface="Times New Roman"/>
                        </a:rPr>
                        <a:t>GPCU submission &amp; approval</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000" u="none" cap="none" strike="noStrike">
                          <a:solidFill>
                            <a:schemeClr val="dk1"/>
                          </a:solidFill>
                        </a:rPr>
                        <a:t>✔</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162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UI Design Prototyping</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 sz="1000" u="none" cap="none" strike="noStrike">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4095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UI Prototype Workflow</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rPr lang="en" sz="1000">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515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App UI Development</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rPr lang="en" sz="1000">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515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Backend Development</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rPr lang="en" sz="1000">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050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Integration of Frontend and Backend</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rPr lang="en" sz="1000">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515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Implementation and Deployment</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rPr lang="en" sz="1000">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515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chemeClr val="dk1"/>
                          </a:solidFill>
                          <a:latin typeface="Times New Roman"/>
                          <a:ea typeface="Times New Roman"/>
                          <a:cs typeface="Times New Roman"/>
                          <a:sym typeface="Times New Roman"/>
                        </a:rPr>
                        <a:t>Pitching their company</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400"/>
                        <a:buFont typeface="Arial"/>
                        <a:buNone/>
                      </a:pPr>
                      <a:r>
                        <a:rPr lang="en" sz="1000">
                          <a:solidFill>
                            <a:schemeClr val="dk1"/>
                          </a:solidFill>
                        </a:rPr>
                        <a:t>✔</a:t>
                      </a:r>
                      <a:endParaRPr sz="10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0"/>
          <p:cNvSpPr txBox="1"/>
          <p:nvPr/>
        </p:nvSpPr>
        <p:spPr>
          <a:xfrm>
            <a:off x="1111955" y="3025050"/>
            <a:ext cx="6824700" cy="1077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104" name="Google Shape;104;p20"/>
          <p:cNvSpPr txBox="1"/>
          <p:nvPr/>
        </p:nvSpPr>
        <p:spPr>
          <a:xfrm>
            <a:off x="1949005" y="394350"/>
            <a:ext cx="54651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80000"/>
              </a:lnSpc>
              <a:spcBef>
                <a:spcPts val="0"/>
              </a:spcBef>
              <a:spcAft>
                <a:spcPts val="0"/>
              </a:spcAft>
              <a:buClr>
                <a:srgbClr val="000000"/>
              </a:buClr>
              <a:buSzPts val="4000"/>
              <a:buFont typeface="Arial"/>
              <a:buNone/>
            </a:pPr>
            <a:r>
              <a:rPr b="1" i="0" lang="en" sz="4000" u="none" cap="none" strike="noStrike">
                <a:solidFill>
                  <a:schemeClr val="dk1"/>
                </a:solidFill>
                <a:latin typeface="Maven Pro"/>
                <a:ea typeface="Maven Pro"/>
                <a:cs typeface="Maven Pro"/>
                <a:sym typeface="Maven Pro"/>
              </a:rPr>
              <a:t>PROJECT TIMELINE</a:t>
            </a:r>
            <a:endParaRPr b="1" i="0" sz="4000" u="none" cap="none" strike="noStrike">
              <a:solidFill>
                <a:schemeClr val="dk1"/>
              </a:solidFill>
              <a:latin typeface="Maven Pro"/>
              <a:ea typeface="Maven Pro"/>
              <a:cs typeface="Maven Pro"/>
              <a:sym typeface="Maven Pro"/>
            </a:endParaRPr>
          </a:p>
        </p:txBody>
      </p:sp>
      <p:sp>
        <p:nvSpPr>
          <p:cNvPr id="105" name="Google Shape;105;p20"/>
          <p:cNvSpPr/>
          <p:nvPr/>
        </p:nvSpPr>
        <p:spPr>
          <a:xfrm>
            <a:off x="178530" y="3005400"/>
            <a:ext cx="8825700" cy="190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 name="Google Shape;106;p20"/>
          <p:cNvSpPr/>
          <p:nvPr/>
        </p:nvSpPr>
        <p:spPr>
          <a:xfrm>
            <a:off x="493880" y="2967900"/>
            <a:ext cx="410400" cy="302700"/>
          </a:xfrm>
          <a:prstGeom prst="flowChartDecision">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7" name="Google Shape;107;p20"/>
          <p:cNvSpPr/>
          <p:nvPr/>
        </p:nvSpPr>
        <p:spPr>
          <a:xfrm>
            <a:off x="1471176" y="2940500"/>
            <a:ext cx="410400" cy="302700"/>
          </a:xfrm>
          <a:prstGeom prst="flowChartDecision">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8" name="Google Shape;108;p20"/>
          <p:cNvSpPr/>
          <p:nvPr/>
        </p:nvSpPr>
        <p:spPr>
          <a:xfrm>
            <a:off x="3845117" y="2934025"/>
            <a:ext cx="410400" cy="302700"/>
          </a:xfrm>
          <a:prstGeom prst="flowChartDecision">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9" name="Google Shape;109;p20"/>
          <p:cNvSpPr/>
          <p:nvPr/>
        </p:nvSpPr>
        <p:spPr>
          <a:xfrm>
            <a:off x="5391808" y="2918850"/>
            <a:ext cx="410400" cy="302700"/>
          </a:xfrm>
          <a:prstGeom prst="flowChartDecision">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0" name="Google Shape;110;p20"/>
          <p:cNvSpPr txBox="1"/>
          <p:nvPr/>
        </p:nvSpPr>
        <p:spPr>
          <a:xfrm>
            <a:off x="281423" y="3666831"/>
            <a:ext cx="8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Times New Roman"/>
                <a:ea typeface="Times New Roman"/>
                <a:cs typeface="Times New Roman"/>
                <a:sym typeface="Times New Roman"/>
              </a:rPr>
              <a:t>19</a:t>
            </a:r>
            <a:r>
              <a:rPr b="0" i="0" lang="en" sz="1400" u="none" cap="none" strike="noStrike">
                <a:solidFill>
                  <a:schemeClr val="dk1"/>
                </a:solidFill>
                <a:latin typeface="Times New Roman"/>
                <a:ea typeface="Times New Roman"/>
                <a:cs typeface="Times New Roman"/>
                <a:sym typeface="Times New Roman"/>
              </a:rPr>
              <a:t>/</a:t>
            </a:r>
            <a:r>
              <a:rPr b="0" i="0" lang="en" sz="1400" u="none" cap="none" strike="noStrike">
                <a:solidFill>
                  <a:schemeClr val="dk1"/>
                </a:solidFill>
                <a:latin typeface="Times New Roman"/>
                <a:ea typeface="Times New Roman"/>
                <a:cs typeface="Times New Roman"/>
                <a:sym typeface="Times New Roman"/>
              </a:rPr>
              <a:t>01</a:t>
            </a:r>
            <a:r>
              <a:rPr b="0" i="0" lang="en" sz="1400" u="none" cap="none" strike="noStrike">
                <a:solidFill>
                  <a:schemeClr val="dk1"/>
                </a:solidFill>
                <a:latin typeface="Times New Roman"/>
                <a:ea typeface="Times New Roman"/>
                <a:cs typeface="Times New Roman"/>
                <a:sym typeface="Times New Roman"/>
              </a:rPr>
              <a:t>/2</a:t>
            </a:r>
            <a:r>
              <a:rPr lang="en">
                <a:solidFill>
                  <a:schemeClr val="dk1"/>
                </a:solidFill>
                <a:latin typeface="Times New Roman"/>
                <a:ea typeface="Times New Roman"/>
                <a:cs typeface="Times New Roman"/>
                <a:sym typeface="Times New Roman"/>
              </a:rPr>
              <a:t>6</a:t>
            </a:r>
            <a:endParaRPr b="0" i="0" sz="1400" u="none" cap="none" strike="noStrike">
              <a:solidFill>
                <a:schemeClr val="dk1"/>
              </a:solidFill>
              <a:latin typeface="Times New Roman"/>
              <a:ea typeface="Times New Roman"/>
              <a:cs typeface="Times New Roman"/>
              <a:sym typeface="Times New Roman"/>
            </a:endParaRPr>
          </a:p>
        </p:txBody>
      </p:sp>
      <p:sp>
        <p:nvSpPr>
          <p:cNvPr id="111" name="Google Shape;111;p20"/>
          <p:cNvSpPr/>
          <p:nvPr/>
        </p:nvSpPr>
        <p:spPr>
          <a:xfrm>
            <a:off x="2441615" y="2927552"/>
            <a:ext cx="410400" cy="302700"/>
          </a:xfrm>
          <a:prstGeom prst="flowChartDecision">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2" name="Google Shape;112;p20"/>
          <p:cNvSpPr txBox="1"/>
          <p:nvPr/>
        </p:nvSpPr>
        <p:spPr>
          <a:xfrm>
            <a:off x="1294530" y="2476870"/>
            <a:ext cx="8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Times New Roman"/>
                <a:ea typeface="Times New Roman"/>
                <a:cs typeface="Times New Roman"/>
                <a:sym typeface="Times New Roman"/>
              </a:rPr>
              <a:t>23</a:t>
            </a:r>
            <a:r>
              <a:rPr b="0" i="0" lang="en" sz="1400" u="none" cap="none" strike="noStrike">
                <a:solidFill>
                  <a:schemeClr val="dk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0</a:t>
            </a:r>
            <a:r>
              <a:rPr b="0" i="0" lang="en" sz="1400" u="none" cap="none" strike="noStrike">
                <a:solidFill>
                  <a:schemeClr val="dk1"/>
                </a:solidFill>
                <a:latin typeface="Times New Roman"/>
                <a:ea typeface="Times New Roman"/>
                <a:cs typeface="Times New Roman"/>
                <a:sym typeface="Times New Roman"/>
              </a:rPr>
              <a:t>1/2</a:t>
            </a:r>
            <a:r>
              <a:rPr lang="en">
                <a:solidFill>
                  <a:schemeClr val="dk1"/>
                </a:solidFill>
                <a:latin typeface="Times New Roman"/>
                <a:ea typeface="Times New Roman"/>
                <a:cs typeface="Times New Roman"/>
                <a:sym typeface="Times New Roman"/>
              </a:rPr>
              <a:t>6</a:t>
            </a:r>
            <a:endParaRPr b="0" i="0" sz="1400" u="none" cap="none" strike="noStrike">
              <a:solidFill>
                <a:schemeClr val="dk1"/>
              </a:solidFill>
              <a:latin typeface="Times New Roman"/>
              <a:ea typeface="Times New Roman"/>
              <a:cs typeface="Times New Roman"/>
              <a:sym typeface="Times New Roman"/>
            </a:endParaRPr>
          </a:p>
        </p:txBody>
      </p:sp>
      <p:sp>
        <p:nvSpPr>
          <p:cNvPr id="113" name="Google Shape;113;p20"/>
          <p:cNvSpPr txBox="1"/>
          <p:nvPr/>
        </p:nvSpPr>
        <p:spPr>
          <a:xfrm>
            <a:off x="2252279" y="2467469"/>
            <a:ext cx="8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Times New Roman"/>
                <a:ea typeface="Times New Roman"/>
                <a:cs typeface="Times New Roman"/>
                <a:sym typeface="Times New Roman"/>
              </a:rPr>
              <a:t>02</a:t>
            </a:r>
            <a:r>
              <a:rPr b="0" i="0" lang="en" sz="1400" u="none" cap="none" strike="noStrike">
                <a:solidFill>
                  <a:schemeClr val="dk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02</a:t>
            </a:r>
            <a:r>
              <a:rPr b="0" i="0" lang="en" sz="1400" u="none" cap="none" strike="noStrike">
                <a:solidFill>
                  <a:schemeClr val="dk1"/>
                </a:solidFill>
                <a:latin typeface="Times New Roman"/>
                <a:ea typeface="Times New Roman"/>
                <a:cs typeface="Times New Roman"/>
                <a:sym typeface="Times New Roman"/>
              </a:rPr>
              <a:t>/2</a:t>
            </a:r>
            <a:r>
              <a:rPr lang="en">
                <a:solidFill>
                  <a:schemeClr val="dk1"/>
                </a:solidFill>
                <a:latin typeface="Times New Roman"/>
                <a:ea typeface="Times New Roman"/>
                <a:cs typeface="Times New Roman"/>
                <a:sym typeface="Times New Roman"/>
              </a:rPr>
              <a:t>6</a:t>
            </a:r>
            <a:endParaRPr b="0" i="0" sz="1400" u="none" cap="none" strike="noStrike">
              <a:solidFill>
                <a:schemeClr val="dk1"/>
              </a:solidFill>
              <a:latin typeface="Times New Roman"/>
              <a:ea typeface="Times New Roman"/>
              <a:cs typeface="Times New Roman"/>
              <a:sym typeface="Times New Roman"/>
            </a:endParaRPr>
          </a:p>
        </p:txBody>
      </p:sp>
      <p:sp>
        <p:nvSpPr>
          <p:cNvPr id="114" name="Google Shape;114;p20"/>
          <p:cNvSpPr txBox="1"/>
          <p:nvPr/>
        </p:nvSpPr>
        <p:spPr>
          <a:xfrm>
            <a:off x="3618429" y="2462963"/>
            <a:ext cx="8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Times New Roman"/>
                <a:ea typeface="Times New Roman"/>
                <a:cs typeface="Times New Roman"/>
                <a:sym typeface="Times New Roman"/>
              </a:rPr>
              <a:t>06</a:t>
            </a:r>
            <a:r>
              <a:rPr b="0" i="0" lang="en" sz="1400" u="none" cap="none" strike="noStrike">
                <a:solidFill>
                  <a:schemeClr val="dk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02</a:t>
            </a:r>
            <a:r>
              <a:rPr b="0" i="0" lang="en" sz="1400" u="none" cap="none" strike="noStrike">
                <a:solidFill>
                  <a:schemeClr val="dk1"/>
                </a:solidFill>
                <a:latin typeface="Times New Roman"/>
                <a:ea typeface="Times New Roman"/>
                <a:cs typeface="Times New Roman"/>
                <a:sym typeface="Times New Roman"/>
              </a:rPr>
              <a:t>/2</a:t>
            </a:r>
            <a:r>
              <a:rPr lang="en">
                <a:solidFill>
                  <a:schemeClr val="dk1"/>
                </a:solidFill>
                <a:latin typeface="Times New Roman"/>
                <a:ea typeface="Times New Roman"/>
                <a:cs typeface="Times New Roman"/>
                <a:sym typeface="Times New Roman"/>
              </a:rPr>
              <a:t>6</a:t>
            </a:r>
            <a:endParaRPr b="0" i="0" sz="1400" u="none" cap="none" strike="noStrike">
              <a:solidFill>
                <a:schemeClr val="dk1"/>
              </a:solidFill>
              <a:latin typeface="Times New Roman"/>
              <a:ea typeface="Times New Roman"/>
              <a:cs typeface="Times New Roman"/>
              <a:sym typeface="Times New Roman"/>
            </a:endParaRPr>
          </a:p>
        </p:txBody>
      </p:sp>
      <p:sp>
        <p:nvSpPr>
          <p:cNvPr id="115" name="Google Shape;115;p20"/>
          <p:cNvSpPr txBox="1"/>
          <p:nvPr/>
        </p:nvSpPr>
        <p:spPr>
          <a:xfrm>
            <a:off x="5202473" y="2462875"/>
            <a:ext cx="8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Times New Roman"/>
                <a:ea typeface="Times New Roman"/>
                <a:cs typeface="Times New Roman"/>
                <a:sym typeface="Times New Roman"/>
              </a:rPr>
              <a:t>23</a:t>
            </a:r>
            <a:r>
              <a:rPr b="0" i="0" lang="en" sz="1400" u="none" cap="none" strike="noStrike">
                <a:solidFill>
                  <a:schemeClr val="dk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02</a:t>
            </a:r>
            <a:r>
              <a:rPr b="0" i="0" lang="en" sz="1400" u="none" cap="none" strike="noStrike">
                <a:solidFill>
                  <a:schemeClr val="dk1"/>
                </a:solidFill>
                <a:latin typeface="Times New Roman"/>
                <a:ea typeface="Times New Roman"/>
                <a:cs typeface="Times New Roman"/>
                <a:sym typeface="Times New Roman"/>
              </a:rPr>
              <a:t>/2</a:t>
            </a:r>
            <a:r>
              <a:rPr lang="en">
                <a:solidFill>
                  <a:schemeClr val="dk1"/>
                </a:solidFill>
                <a:latin typeface="Times New Roman"/>
                <a:ea typeface="Times New Roman"/>
                <a:cs typeface="Times New Roman"/>
                <a:sym typeface="Times New Roman"/>
              </a:rPr>
              <a:t>6</a:t>
            </a:r>
            <a:endParaRPr b="0" i="0" sz="1400" u="none" cap="none" strike="noStrike">
              <a:solidFill>
                <a:schemeClr val="dk1"/>
              </a:solidFill>
              <a:latin typeface="Times New Roman"/>
              <a:ea typeface="Times New Roman"/>
              <a:cs typeface="Times New Roman"/>
              <a:sym typeface="Times New Roman"/>
            </a:endParaRPr>
          </a:p>
        </p:txBody>
      </p:sp>
      <p:sp>
        <p:nvSpPr>
          <p:cNvPr id="116" name="Google Shape;116;p20"/>
          <p:cNvSpPr/>
          <p:nvPr/>
        </p:nvSpPr>
        <p:spPr>
          <a:xfrm>
            <a:off x="8609286" y="2913040"/>
            <a:ext cx="410400" cy="302700"/>
          </a:xfrm>
          <a:prstGeom prst="flowChartDecision">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7" name="Google Shape;117;p20"/>
          <p:cNvSpPr txBox="1"/>
          <p:nvPr/>
        </p:nvSpPr>
        <p:spPr>
          <a:xfrm>
            <a:off x="8391944" y="2133077"/>
            <a:ext cx="8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Times New Roman"/>
                <a:ea typeface="Times New Roman"/>
                <a:cs typeface="Times New Roman"/>
                <a:sym typeface="Times New Roman"/>
              </a:rPr>
              <a:t>28</a:t>
            </a:r>
            <a:r>
              <a:rPr b="0" i="0" lang="en" sz="1400" u="none" cap="none" strike="noStrike">
                <a:solidFill>
                  <a:schemeClr val="dk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02</a:t>
            </a:r>
            <a:r>
              <a:rPr b="0" i="0" lang="en" sz="1400" u="none" cap="none" strike="noStrike">
                <a:solidFill>
                  <a:schemeClr val="dk1"/>
                </a:solidFill>
                <a:latin typeface="Times New Roman"/>
                <a:ea typeface="Times New Roman"/>
                <a:cs typeface="Times New Roman"/>
                <a:sym typeface="Times New Roman"/>
              </a:rPr>
              <a:t>/26</a:t>
            </a:r>
            <a:endParaRPr b="0" i="0" sz="1400" u="none" cap="none" strike="noStrike">
              <a:solidFill>
                <a:schemeClr val="dk1"/>
              </a:solidFill>
              <a:latin typeface="Times New Roman"/>
              <a:ea typeface="Times New Roman"/>
              <a:cs typeface="Times New Roman"/>
              <a:sym typeface="Times New Roman"/>
            </a:endParaRPr>
          </a:p>
        </p:txBody>
      </p:sp>
      <p:sp>
        <p:nvSpPr>
          <p:cNvPr id="118" name="Google Shape;118;p20"/>
          <p:cNvSpPr/>
          <p:nvPr/>
        </p:nvSpPr>
        <p:spPr>
          <a:xfrm flipH="1">
            <a:off x="904280" y="1515100"/>
            <a:ext cx="410400" cy="1490400"/>
          </a:xfrm>
          <a:prstGeom prst="bentArrow">
            <a:avLst>
              <a:gd fmla="val 25000" name="adj1"/>
              <a:gd fmla="val 25000" name="adj2"/>
              <a:gd fmla="val 25000" name="adj3"/>
              <a:gd fmla="val 43750"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19" name="Google Shape;119;p20"/>
          <p:cNvSpPr txBox="1"/>
          <p:nvPr/>
        </p:nvSpPr>
        <p:spPr>
          <a:xfrm>
            <a:off x="240959" y="1419542"/>
            <a:ext cx="9609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Times New Roman"/>
                <a:ea typeface="Times New Roman"/>
                <a:cs typeface="Times New Roman"/>
                <a:sym typeface="Times New Roman"/>
              </a:rPr>
              <a:t>GPCU submission &amp; approval</a:t>
            </a:r>
            <a:endParaRPr b="0" i="0" sz="1300" u="none" cap="none" strike="noStrike">
              <a:solidFill>
                <a:schemeClr val="dk1"/>
              </a:solidFill>
              <a:latin typeface="Lato"/>
              <a:ea typeface="Lato"/>
              <a:cs typeface="Lato"/>
              <a:sym typeface="Lato"/>
            </a:endParaRPr>
          </a:p>
        </p:txBody>
      </p:sp>
      <p:sp>
        <p:nvSpPr>
          <p:cNvPr id="120" name="Google Shape;120;p20"/>
          <p:cNvSpPr/>
          <p:nvPr/>
        </p:nvSpPr>
        <p:spPr>
          <a:xfrm rot="10800000">
            <a:off x="3162430" y="3189300"/>
            <a:ext cx="540000" cy="13842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21" name="Google Shape;121;p20"/>
          <p:cNvSpPr txBox="1"/>
          <p:nvPr/>
        </p:nvSpPr>
        <p:spPr>
          <a:xfrm>
            <a:off x="639705" y="4194675"/>
            <a:ext cx="1086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Times New Roman"/>
                <a:ea typeface="Times New Roman"/>
                <a:cs typeface="Times New Roman"/>
                <a:sym typeface="Times New Roman"/>
              </a:rPr>
              <a:t>UI Design Prototyping </a:t>
            </a:r>
            <a:endParaRPr b="0" i="0" sz="1300" u="none" cap="none" strike="noStrike">
              <a:solidFill>
                <a:schemeClr val="dk1"/>
              </a:solidFill>
              <a:latin typeface="Lato"/>
              <a:ea typeface="Lato"/>
              <a:cs typeface="Lato"/>
              <a:sym typeface="Lato"/>
            </a:endParaRPr>
          </a:p>
        </p:txBody>
      </p:sp>
      <p:sp>
        <p:nvSpPr>
          <p:cNvPr id="122" name="Google Shape;122;p20"/>
          <p:cNvSpPr/>
          <p:nvPr/>
        </p:nvSpPr>
        <p:spPr>
          <a:xfrm rot="10800000">
            <a:off x="1550205" y="3195600"/>
            <a:ext cx="482100" cy="14070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23" name="Google Shape;123;p20"/>
          <p:cNvSpPr txBox="1"/>
          <p:nvPr/>
        </p:nvSpPr>
        <p:spPr>
          <a:xfrm>
            <a:off x="2139630" y="4148475"/>
            <a:ext cx="960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Times New Roman"/>
                <a:ea typeface="Times New Roman"/>
                <a:cs typeface="Times New Roman"/>
                <a:sym typeface="Times New Roman"/>
              </a:rPr>
              <a:t>UI Design Workflow </a:t>
            </a:r>
            <a:endParaRPr b="0" i="0" sz="1300" u="none" cap="none" strike="noStrike">
              <a:solidFill>
                <a:schemeClr val="dk1"/>
              </a:solidFill>
              <a:latin typeface="Lato"/>
              <a:ea typeface="Lato"/>
              <a:cs typeface="Lato"/>
              <a:sym typeface="Lato"/>
            </a:endParaRPr>
          </a:p>
        </p:txBody>
      </p:sp>
      <p:sp>
        <p:nvSpPr>
          <p:cNvPr id="124" name="Google Shape;124;p20"/>
          <p:cNvSpPr/>
          <p:nvPr/>
        </p:nvSpPr>
        <p:spPr>
          <a:xfrm flipH="1">
            <a:off x="4421692" y="1510581"/>
            <a:ext cx="540000" cy="14904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25" name="Google Shape;125;p20"/>
          <p:cNvSpPr txBox="1"/>
          <p:nvPr/>
        </p:nvSpPr>
        <p:spPr>
          <a:xfrm>
            <a:off x="3545032" y="1484721"/>
            <a:ext cx="1086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Times New Roman"/>
                <a:ea typeface="Times New Roman"/>
                <a:cs typeface="Times New Roman"/>
                <a:sym typeface="Times New Roman"/>
              </a:rPr>
              <a:t>APP UI Development</a:t>
            </a:r>
            <a:endParaRPr b="0" i="0" sz="1300" u="none" cap="none" strike="noStrike">
              <a:solidFill>
                <a:schemeClr val="dk1"/>
              </a:solidFill>
              <a:latin typeface="Lato"/>
              <a:ea typeface="Lato"/>
              <a:cs typeface="Lato"/>
              <a:sym typeface="Lato"/>
            </a:endParaRPr>
          </a:p>
        </p:txBody>
      </p:sp>
      <p:sp>
        <p:nvSpPr>
          <p:cNvPr id="126" name="Google Shape;126;p20"/>
          <p:cNvSpPr/>
          <p:nvPr/>
        </p:nvSpPr>
        <p:spPr>
          <a:xfrm rot="10800000">
            <a:off x="5635130" y="3205343"/>
            <a:ext cx="540000" cy="12600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27" name="Google Shape;127;p20"/>
          <p:cNvSpPr txBox="1"/>
          <p:nvPr/>
        </p:nvSpPr>
        <p:spPr>
          <a:xfrm>
            <a:off x="4665778" y="4127003"/>
            <a:ext cx="1213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Lato"/>
                <a:ea typeface="Lato"/>
                <a:cs typeface="Lato"/>
                <a:sym typeface="Lato"/>
              </a:rPr>
              <a:t>Backend Development</a:t>
            </a:r>
            <a:endParaRPr b="0" i="0" sz="1300" u="none" cap="none" strike="noStrike">
              <a:solidFill>
                <a:schemeClr val="dk1"/>
              </a:solidFill>
              <a:latin typeface="Lato"/>
              <a:ea typeface="Lato"/>
              <a:cs typeface="Lato"/>
              <a:sym typeface="Lato"/>
            </a:endParaRPr>
          </a:p>
        </p:txBody>
      </p:sp>
      <p:sp>
        <p:nvSpPr>
          <p:cNvPr id="128" name="Google Shape;128;p20"/>
          <p:cNvSpPr/>
          <p:nvPr/>
        </p:nvSpPr>
        <p:spPr>
          <a:xfrm flipH="1" rot="10800000">
            <a:off x="6680825" y="3202950"/>
            <a:ext cx="628500" cy="13569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29" name="Google Shape;129;p20"/>
          <p:cNvSpPr txBox="1"/>
          <p:nvPr/>
        </p:nvSpPr>
        <p:spPr>
          <a:xfrm>
            <a:off x="7309328" y="4106303"/>
            <a:ext cx="12135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Lato"/>
                <a:ea typeface="Lato"/>
                <a:cs typeface="Lato"/>
                <a:sym typeface="Lato"/>
              </a:rPr>
              <a:t>Integration of Frontend and Backend</a:t>
            </a:r>
            <a:endParaRPr b="0" i="0" sz="1300" u="none" cap="none" strike="noStrike">
              <a:solidFill>
                <a:schemeClr val="dk1"/>
              </a:solidFill>
              <a:latin typeface="Lato"/>
              <a:ea typeface="Lato"/>
              <a:cs typeface="Lato"/>
              <a:sym typeface="Lato"/>
            </a:endParaRPr>
          </a:p>
        </p:txBody>
      </p:sp>
      <p:sp>
        <p:nvSpPr>
          <p:cNvPr id="130" name="Google Shape;130;p20"/>
          <p:cNvSpPr/>
          <p:nvPr/>
        </p:nvSpPr>
        <p:spPr>
          <a:xfrm flipH="1">
            <a:off x="7254124" y="1702886"/>
            <a:ext cx="540000" cy="12951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31" name="Google Shape;131;p20"/>
          <p:cNvSpPr txBox="1"/>
          <p:nvPr/>
        </p:nvSpPr>
        <p:spPr>
          <a:xfrm>
            <a:off x="5715730" y="1509700"/>
            <a:ext cx="16728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Lato"/>
                <a:ea typeface="Lato"/>
                <a:cs typeface="Lato"/>
                <a:sym typeface="Lato"/>
              </a:rPr>
              <a:t>Implementation and Deployment</a:t>
            </a:r>
            <a:endParaRPr b="0" i="0" sz="1300" u="none" cap="none" strike="noStrike">
              <a:solidFill>
                <a:schemeClr val="dk1"/>
              </a:solidFill>
              <a:latin typeface="Lato"/>
              <a:ea typeface="Lato"/>
              <a:cs typeface="Lato"/>
              <a:sym typeface="Lato"/>
            </a:endParaRPr>
          </a:p>
        </p:txBody>
      </p:sp>
      <p:sp>
        <p:nvSpPr>
          <p:cNvPr id="132" name="Google Shape;132;p20"/>
          <p:cNvSpPr/>
          <p:nvPr/>
        </p:nvSpPr>
        <p:spPr>
          <a:xfrm rot="10800000">
            <a:off x="8087600" y="3202925"/>
            <a:ext cx="438000" cy="794100"/>
          </a:xfrm>
          <a:prstGeom prst="bentArrow">
            <a:avLst>
              <a:gd fmla="val 25000" name="adj1"/>
              <a:gd fmla="val 25000" name="adj2"/>
              <a:gd fmla="val 25000" name="adj3"/>
              <a:gd fmla="val 52213" name="adj4"/>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Lato"/>
              <a:ea typeface="Lato"/>
              <a:cs typeface="Lato"/>
              <a:sym typeface="Lato"/>
            </a:endParaRPr>
          </a:p>
        </p:txBody>
      </p:sp>
      <p:sp>
        <p:nvSpPr>
          <p:cNvPr id="133" name="Google Shape;133;p20"/>
          <p:cNvSpPr txBox="1"/>
          <p:nvPr/>
        </p:nvSpPr>
        <p:spPr>
          <a:xfrm>
            <a:off x="6917380" y="3506550"/>
            <a:ext cx="1213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300" u="none" cap="none" strike="noStrike">
                <a:solidFill>
                  <a:schemeClr val="dk1"/>
                </a:solidFill>
                <a:latin typeface="Lato"/>
                <a:ea typeface="Lato"/>
                <a:cs typeface="Lato"/>
                <a:sym typeface="Lato"/>
              </a:rPr>
              <a:t>Pitching their Company</a:t>
            </a:r>
            <a:endParaRPr b="0" i="0" sz="1300" u="none" cap="none" strike="noStrike">
              <a:solidFill>
                <a:schemeClr val="dk1"/>
              </a:solidFill>
              <a:latin typeface="Lato"/>
              <a:ea typeface="Lato"/>
              <a:cs typeface="Lato"/>
              <a:sym typeface="Lato"/>
            </a:endParaRPr>
          </a:p>
        </p:txBody>
      </p:sp>
      <p:cxnSp>
        <p:nvCxnSpPr>
          <p:cNvPr id="134" name="Google Shape;134;p20"/>
          <p:cNvCxnSpPr>
            <a:stCxn id="106" idx="2"/>
            <a:endCxn id="110" idx="0"/>
          </p:cNvCxnSpPr>
          <p:nvPr/>
        </p:nvCxnSpPr>
        <p:spPr>
          <a:xfrm>
            <a:off x="699080" y="3270600"/>
            <a:ext cx="4800" cy="396300"/>
          </a:xfrm>
          <a:prstGeom prst="straightConnector1">
            <a:avLst/>
          </a:prstGeom>
          <a:noFill/>
          <a:ln cap="flat" cmpd="sng" w="9525">
            <a:solidFill>
              <a:schemeClr val="accent1"/>
            </a:solidFill>
            <a:prstDash val="solid"/>
            <a:round/>
            <a:headEnd len="sm" w="sm" type="none"/>
            <a:tailEnd len="sm" w="sm" type="none"/>
          </a:ln>
        </p:spPr>
      </p:cxnSp>
      <p:cxnSp>
        <p:nvCxnSpPr>
          <p:cNvPr id="135" name="Google Shape;135;p20"/>
          <p:cNvCxnSpPr>
            <a:stCxn id="116" idx="0"/>
            <a:endCxn id="117" idx="2"/>
          </p:cNvCxnSpPr>
          <p:nvPr/>
        </p:nvCxnSpPr>
        <p:spPr>
          <a:xfrm rot="10800000">
            <a:off x="8814486" y="2533240"/>
            <a:ext cx="0" cy="3798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1062175" y="756750"/>
            <a:ext cx="7706700" cy="7326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b="1" lang="en"/>
              <a:t>UNDERSTANDING THE USERS</a:t>
            </a:r>
            <a:endParaRPr b="1"/>
          </a:p>
        </p:txBody>
      </p:sp>
      <p:sp>
        <p:nvSpPr>
          <p:cNvPr id="141" name="Google Shape;141;p21"/>
          <p:cNvSpPr txBox="1"/>
          <p:nvPr/>
        </p:nvSpPr>
        <p:spPr>
          <a:xfrm>
            <a:off x="2785250" y="2330625"/>
            <a:ext cx="4058400" cy="1427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 sz="2000" u="none" cap="none" strike="noStrike">
                <a:solidFill>
                  <a:schemeClr val="dk1"/>
                </a:solidFill>
                <a:latin typeface="Times New Roman"/>
                <a:ea typeface="Times New Roman"/>
                <a:cs typeface="Times New Roman"/>
                <a:sym typeface="Times New Roman"/>
              </a:rPr>
              <a:t>User research</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Times New Roman"/>
              <a:buChar char="❏"/>
            </a:pPr>
            <a:r>
              <a:rPr b="0" i="0" lang="en" sz="2000" u="none" cap="none" strike="noStrike">
                <a:solidFill>
                  <a:schemeClr val="dk1"/>
                </a:solidFill>
                <a:latin typeface="Times New Roman"/>
                <a:ea typeface="Times New Roman"/>
                <a:cs typeface="Times New Roman"/>
                <a:sym typeface="Times New Roman"/>
              </a:rPr>
              <a:t>Personas</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Times New Roman"/>
              <a:buChar char="❏"/>
            </a:pPr>
            <a:r>
              <a:rPr b="0" i="0" lang="en" sz="2000" u="none" cap="none" strike="noStrike">
                <a:solidFill>
                  <a:schemeClr val="dk1"/>
                </a:solidFill>
                <a:latin typeface="Times New Roman"/>
                <a:ea typeface="Times New Roman"/>
                <a:cs typeface="Times New Roman"/>
                <a:sym typeface="Times New Roman"/>
              </a:rPr>
              <a:t>Problem Statements</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Times New Roman"/>
              <a:buChar char="❏"/>
            </a:pPr>
            <a:r>
              <a:rPr b="0" i="0" lang="en" sz="2000" u="none" cap="none" strike="noStrike">
                <a:solidFill>
                  <a:schemeClr val="dk1"/>
                </a:solidFill>
                <a:latin typeface="Times New Roman"/>
                <a:ea typeface="Times New Roman"/>
                <a:cs typeface="Times New Roman"/>
                <a:sym typeface="Times New Roman"/>
              </a:rPr>
              <a:t>User Journey</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983650" y="0"/>
            <a:ext cx="3274500" cy="63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b="1" lang="en"/>
              <a:t>USER PERSONA 1</a:t>
            </a:r>
            <a:endParaRPr b="1"/>
          </a:p>
        </p:txBody>
      </p:sp>
      <p:sp>
        <p:nvSpPr>
          <p:cNvPr id="147" name="Google Shape;147;p22"/>
          <p:cNvSpPr txBox="1"/>
          <p:nvPr>
            <p:ph idx="1" type="body"/>
          </p:nvPr>
        </p:nvSpPr>
        <p:spPr>
          <a:xfrm>
            <a:off x="2499075" y="482375"/>
            <a:ext cx="6294300" cy="42543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300"/>
              <a:buNone/>
            </a:pPr>
            <a:r>
              <a:rPr b="1" lang="en" sz="1500">
                <a:latin typeface="Arial"/>
                <a:ea typeface="Arial"/>
                <a:cs typeface="Arial"/>
                <a:sym typeface="Arial"/>
              </a:rPr>
              <a:t>Goal</a:t>
            </a:r>
            <a:endParaRPr b="1" sz="1500">
              <a:latin typeface="Arial"/>
              <a:ea typeface="Arial"/>
              <a:cs typeface="Arial"/>
              <a:sym typeface="Arial"/>
            </a:endParaRPr>
          </a:p>
          <a:p>
            <a:pPr indent="0" lvl="0" marL="0" rtl="0" algn="just">
              <a:lnSpc>
                <a:spcPct val="115000"/>
              </a:lnSpc>
              <a:spcBef>
                <a:spcPts val="1400"/>
              </a:spcBef>
              <a:spcAft>
                <a:spcPts val="0"/>
              </a:spcAft>
              <a:buSzPts val="1300"/>
              <a:buNone/>
            </a:pPr>
            <a:r>
              <a:rPr lang="en" sz="1100"/>
              <a:t>Rudhra is a 26-year-old working professional who wants a simple and fast way to understand investments, budgeting, and tax-saving options. He needs an AI-driven app that explains financial concepts clearly, helps him plan his savings, and guides him toward building long-term wealth without complicated financial jargon.</a:t>
            </a:r>
            <a:endParaRPr sz="1100">
              <a:latin typeface="Arial"/>
              <a:ea typeface="Arial"/>
              <a:cs typeface="Arial"/>
              <a:sym typeface="Arial"/>
            </a:endParaRPr>
          </a:p>
          <a:p>
            <a:pPr indent="0" lvl="0" marL="0" rtl="0" algn="just">
              <a:lnSpc>
                <a:spcPct val="115000"/>
              </a:lnSpc>
              <a:spcBef>
                <a:spcPts val="1400"/>
              </a:spcBef>
              <a:spcAft>
                <a:spcPts val="0"/>
              </a:spcAft>
              <a:buSzPts val="1300"/>
              <a:buNone/>
            </a:pPr>
            <a:r>
              <a:rPr b="1" lang="en" sz="1500">
                <a:latin typeface="Arial"/>
                <a:ea typeface="Arial"/>
                <a:cs typeface="Arial"/>
                <a:sym typeface="Arial"/>
              </a:rPr>
              <a:t>Frustrations</a:t>
            </a:r>
            <a:endParaRPr b="1" sz="1500">
              <a:latin typeface="Arial"/>
              <a:ea typeface="Arial"/>
              <a:cs typeface="Arial"/>
              <a:sym typeface="Arial"/>
            </a:endParaRPr>
          </a:p>
          <a:p>
            <a:pPr indent="-298450" lvl="0" marL="457200" rtl="0" algn="just">
              <a:spcBef>
                <a:spcPts val="0"/>
              </a:spcBef>
              <a:spcAft>
                <a:spcPts val="0"/>
              </a:spcAft>
              <a:buSzPts val="1100"/>
              <a:buChar char="●"/>
            </a:pPr>
            <a:r>
              <a:rPr lang="en" sz="1100"/>
              <a:t>Finds financial terms like SIP, mutual funds, and capital gains confusing</a:t>
            </a:r>
            <a:endParaRPr sz="1100"/>
          </a:p>
          <a:p>
            <a:pPr indent="-298450" lvl="0" marL="457200" rtl="0" algn="just">
              <a:spcBef>
                <a:spcPts val="0"/>
              </a:spcBef>
              <a:spcAft>
                <a:spcPts val="0"/>
              </a:spcAft>
              <a:buSzPts val="1100"/>
              <a:buChar char="●"/>
            </a:pPr>
            <a:r>
              <a:rPr lang="en" sz="1100"/>
              <a:t>Unsure where to start with investing</a:t>
            </a:r>
            <a:endParaRPr sz="1100"/>
          </a:p>
          <a:p>
            <a:pPr indent="-298450" lvl="0" marL="457200" rtl="0" algn="just">
              <a:spcBef>
                <a:spcPts val="0"/>
              </a:spcBef>
              <a:spcAft>
                <a:spcPts val="0"/>
              </a:spcAft>
              <a:buSzPts val="1100"/>
              <a:buChar char="●"/>
            </a:pPr>
            <a:r>
              <a:rPr lang="en" sz="1100"/>
              <a:t>Overwhelmed by too much financial content online</a:t>
            </a:r>
            <a:endParaRPr sz="1100"/>
          </a:p>
          <a:p>
            <a:pPr indent="-298450" lvl="0" marL="457200" rtl="0" algn="just">
              <a:spcBef>
                <a:spcPts val="0"/>
              </a:spcBef>
              <a:spcAft>
                <a:spcPts val="0"/>
              </a:spcAft>
              <a:buSzPts val="1100"/>
              <a:buChar char="●"/>
            </a:pPr>
            <a:r>
              <a:rPr lang="en" sz="1100"/>
              <a:t>Afraid of making wrong investment decisions</a:t>
            </a:r>
            <a:endParaRPr sz="1100"/>
          </a:p>
          <a:p>
            <a:pPr indent="-298450" lvl="0" marL="457200" rtl="0" algn="just">
              <a:spcBef>
                <a:spcPts val="0"/>
              </a:spcBef>
              <a:spcAft>
                <a:spcPts val="0"/>
              </a:spcAft>
              <a:buSzPts val="1100"/>
              <a:buChar char="●"/>
            </a:pPr>
            <a:r>
              <a:rPr lang="en" sz="1100"/>
              <a:t>No personalized financial guidance tailored to his income and goals</a:t>
            </a:r>
            <a:endParaRPr sz="1100"/>
          </a:p>
          <a:p>
            <a:pPr indent="0" lvl="0" marL="0" rtl="0" algn="just">
              <a:lnSpc>
                <a:spcPct val="115000"/>
              </a:lnSpc>
              <a:spcBef>
                <a:spcPts val="1200"/>
              </a:spcBef>
              <a:spcAft>
                <a:spcPts val="0"/>
              </a:spcAft>
              <a:buSzPts val="1300"/>
              <a:buNone/>
            </a:pPr>
            <a:r>
              <a:rPr b="1" lang="en" sz="1500">
                <a:latin typeface="Arial"/>
                <a:ea typeface="Arial"/>
                <a:cs typeface="Arial"/>
                <a:sym typeface="Arial"/>
              </a:rPr>
              <a:t>Problem Statement</a:t>
            </a:r>
            <a:endParaRPr b="1" sz="1500">
              <a:latin typeface="Arial"/>
              <a:ea typeface="Arial"/>
              <a:cs typeface="Arial"/>
              <a:sym typeface="Arial"/>
            </a:endParaRPr>
          </a:p>
          <a:p>
            <a:pPr indent="0" lvl="0" marL="0" rtl="0" algn="just">
              <a:lnSpc>
                <a:spcPct val="115000"/>
              </a:lnSpc>
              <a:spcBef>
                <a:spcPts val="1200"/>
              </a:spcBef>
              <a:spcAft>
                <a:spcPts val="1200"/>
              </a:spcAft>
              <a:buSzPts val="1300"/>
              <a:buNone/>
            </a:pPr>
            <a:r>
              <a:rPr lang="en" sz="1100"/>
              <a:t>Rudhra struggles to manage his finances confidently because existing resources are either too technical or too generic. He needs a clear, AI-powered system that simplifies financial concepts, provides personalized recommendations, and helps him build smart money habits step by step.</a:t>
            </a:r>
            <a:endParaRPr/>
          </a:p>
        </p:txBody>
      </p:sp>
      <p:sp>
        <p:nvSpPr>
          <p:cNvPr id="148" name="Google Shape;148;p22"/>
          <p:cNvSpPr txBox="1"/>
          <p:nvPr/>
        </p:nvSpPr>
        <p:spPr>
          <a:xfrm>
            <a:off x="222375" y="3067775"/>
            <a:ext cx="2276700" cy="200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Name: </a:t>
            </a:r>
            <a:r>
              <a:rPr lang="en" sz="1600">
                <a:solidFill>
                  <a:schemeClr val="dk1"/>
                </a:solidFill>
                <a:latin typeface="Times New Roman"/>
                <a:ea typeface="Times New Roman"/>
                <a:cs typeface="Times New Roman"/>
                <a:sym typeface="Times New Roman"/>
              </a:rPr>
              <a:t>Rudhra</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Age: </a:t>
            </a:r>
            <a:r>
              <a:rPr b="0" i="0" lang="en" sz="1600" u="none" cap="none" strike="noStrike">
                <a:solidFill>
                  <a:schemeClr val="dk1"/>
                </a:solidFill>
                <a:latin typeface="Times New Roman"/>
                <a:ea typeface="Times New Roman"/>
                <a:cs typeface="Times New Roman"/>
                <a:sym typeface="Times New Roman"/>
              </a:rPr>
              <a:t>2</a:t>
            </a:r>
            <a:r>
              <a:rPr lang="en" sz="1600">
                <a:solidFill>
                  <a:schemeClr val="dk1"/>
                </a:solidFill>
                <a:latin typeface="Times New Roman"/>
                <a:ea typeface="Times New Roman"/>
                <a:cs typeface="Times New Roman"/>
                <a:sym typeface="Times New Roman"/>
              </a:rPr>
              <a:t>6</a:t>
            </a:r>
            <a:r>
              <a:rPr b="0" i="0" lang="en" sz="1600" u="none" cap="none" strike="noStrike">
                <a:solidFill>
                  <a:schemeClr val="dk1"/>
                </a:solidFill>
                <a:latin typeface="Times New Roman"/>
                <a:ea typeface="Times New Roman"/>
                <a:cs typeface="Times New Roman"/>
                <a:sym typeface="Times New Roman"/>
              </a:rPr>
              <a:t> years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Occupation: </a:t>
            </a:r>
            <a:r>
              <a:rPr lang="en" sz="1600">
                <a:solidFill>
                  <a:schemeClr val="dk1"/>
                </a:solidFill>
                <a:latin typeface="Times New Roman"/>
                <a:ea typeface="Times New Roman"/>
                <a:cs typeface="Times New Roman"/>
                <a:sym typeface="Times New Roman"/>
              </a:rPr>
              <a:t>Software Engineer </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Location: </a:t>
            </a:r>
            <a:r>
              <a:rPr b="0" i="0" lang="en" sz="1600" u="none" cap="none" strike="noStrike">
                <a:solidFill>
                  <a:schemeClr val="dk1"/>
                </a:solidFill>
                <a:latin typeface="Times New Roman"/>
                <a:ea typeface="Times New Roman"/>
                <a:cs typeface="Times New Roman"/>
                <a:sym typeface="Times New Roman"/>
              </a:rPr>
              <a:t>Chennai,India</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Education: </a:t>
            </a:r>
            <a:r>
              <a:rPr b="0" i="0" lang="en" sz="1600" u="none" cap="none" strike="noStrike">
                <a:solidFill>
                  <a:schemeClr val="dk1"/>
                </a:solidFill>
                <a:latin typeface="Times New Roman"/>
                <a:ea typeface="Times New Roman"/>
                <a:cs typeface="Times New Roman"/>
                <a:sym typeface="Times New Roman"/>
              </a:rPr>
              <a:t>BE in CSE</a:t>
            </a:r>
            <a:endParaRPr b="0" i="0" sz="1600" u="none" cap="none" strike="noStrike">
              <a:solidFill>
                <a:schemeClr val="dk1"/>
              </a:solidFill>
              <a:latin typeface="Times New Roman"/>
              <a:ea typeface="Times New Roman"/>
              <a:cs typeface="Times New Roman"/>
              <a:sym typeface="Times New Roman"/>
            </a:endParaRPr>
          </a:p>
        </p:txBody>
      </p:sp>
      <p:pic>
        <p:nvPicPr>
          <p:cNvPr id="149" name="Google Shape;149;p22"/>
          <p:cNvPicPr preferRelativeResize="0"/>
          <p:nvPr/>
        </p:nvPicPr>
        <p:blipFill rotWithShape="1">
          <a:blip r:embed="rId3">
            <a:alphaModFix/>
          </a:blip>
          <a:srcRect b="0" l="21359" r="31596" t="4498"/>
          <a:stretch/>
        </p:blipFill>
        <p:spPr>
          <a:xfrm>
            <a:off x="263691" y="639300"/>
            <a:ext cx="2069181" cy="2428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idx="1" type="body"/>
          </p:nvPr>
        </p:nvSpPr>
        <p:spPr>
          <a:xfrm>
            <a:off x="2499075" y="380550"/>
            <a:ext cx="6645000" cy="43824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1400"/>
              </a:spcBef>
              <a:spcAft>
                <a:spcPts val="0"/>
              </a:spcAft>
              <a:buSzPts val="1529"/>
              <a:buNone/>
            </a:pPr>
            <a:r>
              <a:rPr b="1" lang="en" sz="1850">
                <a:latin typeface="Arial"/>
                <a:ea typeface="Arial"/>
                <a:cs typeface="Arial"/>
                <a:sym typeface="Arial"/>
              </a:rPr>
              <a:t>Goal</a:t>
            </a:r>
            <a:endParaRPr b="1" sz="1850">
              <a:latin typeface="Arial"/>
              <a:ea typeface="Arial"/>
              <a:cs typeface="Arial"/>
              <a:sym typeface="Arial"/>
            </a:endParaRPr>
          </a:p>
          <a:p>
            <a:pPr indent="0" lvl="0" marL="0" rtl="0" algn="l">
              <a:spcBef>
                <a:spcPts val="1200"/>
              </a:spcBef>
              <a:spcAft>
                <a:spcPts val="0"/>
              </a:spcAft>
              <a:buSzPts val="1100"/>
              <a:buNone/>
            </a:pPr>
            <a:r>
              <a:rPr lang="en" sz="1208"/>
              <a:t>Devi is a 32-year-old professional who wants to plan her finances efficiently while balancing family responsibilities. She needs a trustworthy platform that helps her understand insurance coverage, retirement planning, and tax optimization through easy explanations and practical financial tools.</a:t>
            </a:r>
            <a:endParaRPr sz="1208"/>
          </a:p>
          <a:p>
            <a:pPr indent="0" lvl="0" marL="0" rtl="0" algn="just">
              <a:lnSpc>
                <a:spcPct val="115000"/>
              </a:lnSpc>
              <a:spcBef>
                <a:spcPts val="1400"/>
              </a:spcBef>
              <a:spcAft>
                <a:spcPts val="0"/>
              </a:spcAft>
              <a:buSzPts val="1529"/>
              <a:buNone/>
            </a:pPr>
            <a:r>
              <a:rPr b="1" lang="en" sz="1850">
                <a:latin typeface="Arial"/>
                <a:ea typeface="Arial"/>
                <a:cs typeface="Arial"/>
                <a:sym typeface="Arial"/>
              </a:rPr>
              <a:t>Frustrations</a:t>
            </a:r>
            <a:endParaRPr b="1" sz="1850"/>
          </a:p>
          <a:p>
            <a:pPr indent="-305315" lvl="0" marL="457200" rtl="0" algn="just">
              <a:spcBef>
                <a:spcPts val="0"/>
              </a:spcBef>
              <a:spcAft>
                <a:spcPts val="0"/>
              </a:spcAft>
              <a:buSzPts val="1208"/>
              <a:buChar char="●"/>
            </a:pPr>
            <a:r>
              <a:rPr lang="en" sz="1208"/>
              <a:t>Unsure how much insurance coverage she actually needs</a:t>
            </a:r>
            <a:endParaRPr sz="1208"/>
          </a:p>
          <a:p>
            <a:pPr indent="-305315" lvl="0" marL="457200" rtl="0" algn="just">
              <a:spcBef>
                <a:spcPts val="0"/>
              </a:spcBef>
              <a:spcAft>
                <a:spcPts val="0"/>
              </a:spcAft>
              <a:buSzPts val="1208"/>
              <a:buChar char="●"/>
            </a:pPr>
            <a:r>
              <a:rPr lang="en" sz="1208"/>
              <a:t>Confused about retirement planning and long-term investments</a:t>
            </a:r>
            <a:endParaRPr sz="1208"/>
          </a:p>
          <a:p>
            <a:pPr indent="-305315" lvl="0" marL="457200" rtl="0" algn="just">
              <a:spcBef>
                <a:spcPts val="0"/>
              </a:spcBef>
              <a:spcAft>
                <a:spcPts val="0"/>
              </a:spcAft>
              <a:buSzPts val="1208"/>
              <a:buChar char="●"/>
            </a:pPr>
            <a:r>
              <a:rPr lang="en" sz="1208"/>
              <a:t>Finds financial advice online inconsistent or sales-driven</a:t>
            </a:r>
            <a:endParaRPr sz="1208"/>
          </a:p>
          <a:p>
            <a:pPr indent="-305315" lvl="0" marL="457200" rtl="0" algn="just">
              <a:spcBef>
                <a:spcPts val="0"/>
              </a:spcBef>
              <a:spcAft>
                <a:spcPts val="0"/>
              </a:spcAft>
              <a:buSzPts val="1208"/>
              <a:buChar char="●"/>
            </a:pPr>
            <a:r>
              <a:rPr lang="en" sz="1208"/>
              <a:t>Doesn’t have time to consult financial advisors frequently</a:t>
            </a:r>
            <a:endParaRPr sz="1208"/>
          </a:p>
          <a:p>
            <a:pPr indent="-305315" lvl="0" marL="457200" rtl="0" algn="just">
              <a:spcBef>
                <a:spcPts val="0"/>
              </a:spcBef>
              <a:spcAft>
                <a:spcPts val="0"/>
              </a:spcAft>
              <a:buSzPts val="1208"/>
              <a:buChar char="●"/>
            </a:pPr>
            <a:r>
              <a:rPr lang="en" sz="1208"/>
              <a:t>Struggles to track financial goals and progress</a:t>
            </a:r>
            <a:endParaRPr sz="1208"/>
          </a:p>
          <a:p>
            <a:pPr indent="0" lvl="0" marL="0" rtl="0" algn="just">
              <a:lnSpc>
                <a:spcPct val="115000"/>
              </a:lnSpc>
              <a:spcBef>
                <a:spcPts val="1200"/>
              </a:spcBef>
              <a:spcAft>
                <a:spcPts val="0"/>
              </a:spcAft>
              <a:buSzPts val="1529"/>
              <a:buNone/>
            </a:pPr>
            <a:r>
              <a:rPr b="1" lang="en" sz="1850">
                <a:latin typeface="Arial"/>
                <a:ea typeface="Arial"/>
                <a:cs typeface="Arial"/>
                <a:sym typeface="Arial"/>
              </a:rPr>
              <a:t>P</a:t>
            </a:r>
            <a:r>
              <a:rPr b="1" lang="en" sz="1850">
                <a:latin typeface="Arial"/>
                <a:ea typeface="Arial"/>
                <a:cs typeface="Arial"/>
                <a:sym typeface="Arial"/>
              </a:rPr>
              <a:t>roblem Statement</a:t>
            </a:r>
            <a:endParaRPr b="1" sz="1850">
              <a:latin typeface="Arial"/>
              <a:ea typeface="Arial"/>
              <a:cs typeface="Arial"/>
              <a:sym typeface="Arial"/>
            </a:endParaRPr>
          </a:p>
          <a:p>
            <a:pPr indent="0" lvl="0" marL="0" rtl="0" algn="l">
              <a:spcBef>
                <a:spcPts val="1200"/>
              </a:spcBef>
              <a:spcAft>
                <a:spcPts val="1200"/>
              </a:spcAft>
              <a:buSzPts val="1100"/>
              <a:buNone/>
            </a:pPr>
            <a:r>
              <a:rPr lang="en" sz="1208"/>
              <a:t>Devi finds it difficult to make informed financial decisions because current platforms focus on transactions rather than education and personalized guidance. She needs a reliable AI assistant that explains financial strategies clearly, provides goal-based planning tools, and supports her in securing her family’s financial future confidently.</a:t>
            </a:r>
            <a:endParaRPr sz="1208"/>
          </a:p>
        </p:txBody>
      </p:sp>
      <p:sp>
        <p:nvSpPr>
          <p:cNvPr id="155" name="Google Shape;155;p23"/>
          <p:cNvSpPr txBox="1"/>
          <p:nvPr>
            <p:ph type="title"/>
          </p:nvPr>
        </p:nvSpPr>
        <p:spPr>
          <a:xfrm>
            <a:off x="983650" y="0"/>
            <a:ext cx="3274500" cy="63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b="1" lang="en"/>
              <a:t>USER PERSONA 2</a:t>
            </a:r>
            <a:endParaRPr b="1"/>
          </a:p>
        </p:txBody>
      </p:sp>
      <p:sp>
        <p:nvSpPr>
          <p:cNvPr id="156" name="Google Shape;156;p23"/>
          <p:cNvSpPr txBox="1"/>
          <p:nvPr/>
        </p:nvSpPr>
        <p:spPr>
          <a:xfrm>
            <a:off x="222375" y="2942800"/>
            <a:ext cx="2276700" cy="200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Name: </a:t>
            </a:r>
            <a:r>
              <a:rPr lang="en" sz="1600">
                <a:solidFill>
                  <a:schemeClr val="dk1"/>
                </a:solidFill>
                <a:latin typeface="Times New Roman"/>
                <a:ea typeface="Times New Roman"/>
                <a:cs typeface="Times New Roman"/>
                <a:sym typeface="Times New Roman"/>
              </a:rPr>
              <a:t>Devi</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Age: </a:t>
            </a:r>
            <a:r>
              <a:rPr lang="en" sz="1600">
                <a:solidFill>
                  <a:schemeClr val="dk1"/>
                </a:solidFill>
                <a:latin typeface="Times New Roman"/>
                <a:ea typeface="Times New Roman"/>
                <a:cs typeface="Times New Roman"/>
                <a:sym typeface="Times New Roman"/>
              </a:rPr>
              <a:t>32</a:t>
            </a:r>
            <a:r>
              <a:rPr b="0" i="0" lang="en" sz="1600" u="none" cap="none" strike="noStrike">
                <a:solidFill>
                  <a:schemeClr val="dk1"/>
                </a:solidFill>
                <a:latin typeface="Times New Roman"/>
                <a:ea typeface="Times New Roman"/>
                <a:cs typeface="Times New Roman"/>
                <a:sym typeface="Times New Roman"/>
              </a:rPr>
              <a:t> years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Occupation: </a:t>
            </a:r>
            <a:r>
              <a:rPr b="0" i="0" lang="en" sz="1600" u="none" cap="none" strike="noStrike">
                <a:solidFill>
                  <a:schemeClr val="dk1"/>
                </a:solidFill>
                <a:latin typeface="Times New Roman"/>
                <a:ea typeface="Times New Roman"/>
                <a:cs typeface="Times New Roman"/>
                <a:sym typeface="Times New Roman"/>
              </a:rPr>
              <a:t>Software Engineer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Location: </a:t>
            </a:r>
            <a:r>
              <a:rPr lang="en" sz="1600">
                <a:solidFill>
                  <a:schemeClr val="dk1"/>
                </a:solidFill>
                <a:latin typeface="Times New Roman"/>
                <a:ea typeface="Times New Roman"/>
                <a:cs typeface="Times New Roman"/>
                <a:sym typeface="Times New Roman"/>
              </a:rPr>
              <a:t>Andhra Pradesh</a:t>
            </a:r>
            <a:r>
              <a:rPr b="0" i="0" lang="en" sz="1600" u="none" cap="none" strike="noStrike">
                <a:solidFill>
                  <a:schemeClr val="dk1"/>
                </a:solidFill>
                <a:latin typeface="Times New Roman"/>
                <a:ea typeface="Times New Roman"/>
                <a:cs typeface="Times New Roman"/>
                <a:sym typeface="Times New Roman"/>
              </a:rPr>
              <a:t>, India</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Times New Roman"/>
                <a:ea typeface="Times New Roman"/>
                <a:cs typeface="Times New Roman"/>
                <a:sym typeface="Times New Roman"/>
              </a:rPr>
              <a:t>Education: </a:t>
            </a:r>
            <a:r>
              <a:rPr b="0" i="0" lang="en" sz="1600" u="none" cap="none" strike="noStrike">
                <a:solidFill>
                  <a:schemeClr val="dk1"/>
                </a:solidFill>
                <a:latin typeface="Times New Roman"/>
                <a:ea typeface="Times New Roman"/>
                <a:cs typeface="Times New Roman"/>
                <a:sym typeface="Times New Roman"/>
              </a:rPr>
              <a:t>BTech in CSE</a:t>
            </a:r>
            <a:endParaRPr b="0" i="0" sz="1600" u="none" cap="none" strike="noStrike">
              <a:solidFill>
                <a:schemeClr val="dk1"/>
              </a:solidFill>
              <a:latin typeface="Times New Roman"/>
              <a:ea typeface="Times New Roman"/>
              <a:cs typeface="Times New Roman"/>
              <a:sym typeface="Times New Roman"/>
            </a:endParaRPr>
          </a:p>
        </p:txBody>
      </p:sp>
      <p:pic>
        <p:nvPicPr>
          <p:cNvPr id="157" name="Google Shape;157;p23"/>
          <p:cNvPicPr preferRelativeResize="0"/>
          <p:nvPr/>
        </p:nvPicPr>
        <p:blipFill rotWithShape="1">
          <a:blip r:embed="rId3">
            <a:alphaModFix/>
          </a:blip>
          <a:srcRect b="0" l="12156" r="17048" t="0"/>
          <a:stretch/>
        </p:blipFill>
        <p:spPr>
          <a:xfrm>
            <a:off x="222375" y="639300"/>
            <a:ext cx="2163374" cy="2303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nvSpPr>
        <p:spPr>
          <a:xfrm>
            <a:off x="2261056" y="5"/>
            <a:ext cx="4852500" cy="406500"/>
          </a:xfrm>
          <a:prstGeom prst="rect">
            <a:avLst/>
          </a:prstGeom>
          <a:noFill/>
          <a:ln>
            <a:noFill/>
          </a:ln>
        </p:spPr>
        <p:txBody>
          <a:bodyPr anchorCtr="0" anchor="t" bIns="0" lIns="0" spcFirstLastPara="1" rIns="0" wrap="square" tIns="0">
            <a:spAutoFit/>
          </a:bodyPr>
          <a:lstStyle/>
          <a:p>
            <a:pPr indent="0" lvl="0" marL="0" marR="0" rtl="0" algn="ctr">
              <a:lnSpc>
                <a:spcPct val="80016"/>
              </a:lnSpc>
              <a:spcBef>
                <a:spcPts val="0"/>
              </a:spcBef>
              <a:spcAft>
                <a:spcPts val="0"/>
              </a:spcAft>
              <a:buClr>
                <a:srgbClr val="000000"/>
              </a:buClr>
              <a:buSzPts val="3600"/>
              <a:buFont typeface="Arial"/>
              <a:buNone/>
            </a:pPr>
            <a:r>
              <a:rPr b="1" i="0" lang="en" sz="3300" u="none" cap="none" strike="noStrike">
                <a:solidFill>
                  <a:schemeClr val="dk1"/>
                </a:solidFill>
                <a:latin typeface="Maven Pro"/>
                <a:ea typeface="Maven Pro"/>
                <a:cs typeface="Maven Pro"/>
                <a:sym typeface="Maven Pro"/>
              </a:rPr>
              <a:t>USER JOURNEY MAP</a:t>
            </a:r>
            <a:endParaRPr b="0" i="0" sz="3300" u="none" cap="none" strike="noStrike">
              <a:solidFill>
                <a:schemeClr val="dk1"/>
              </a:solidFill>
              <a:latin typeface="Arial"/>
              <a:ea typeface="Arial"/>
              <a:cs typeface="Arial"/>
              <a:sym typeface="Arial"/>
            </a:endParaRPr>
          </a:p>
        </p:txBody>
      </p:sp>
      <p:sp>
        <p:nvSpPr>
          <p:cNvPr id="163" name="Google Shape;163;p24"/>
          <p:cNvSpPr txBox="1"/>
          <p:nvPr/>
        </p:nvSpPr>
        <p:spPr>
          <a:xfrm>
            <a:off x="1132663" y="337373"/>
            <a:ext cx="7972200" cy="57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Persona:</a:t>
            </a:r>
            <a:r>
              <a:rPr lang="en" sz="1100">
                <a:solidFill>
                  <a:schemeClr val="dk1"/>
                </a:solidFill>
              </a:rPr>
              <a:t> Rudhra, 27, Working Professional</a:t>
            </a:r>
            <a:endParaRPr sz="1100">
              <a:solidFill>
                <a:schemeClr val="dk1"/>
              </a:solidFill>
            </a:endParaRPr>
          </a:p>
          <a:p>
            <a:pPr indent="0" lvl="0" marL="0" marR="0" rtl="0" algn="l">
              <a:lnSpc>
                <a:spcPct val="115000"/>
              </a:lnSpc>
              <a:spcBef>
                <a:spcPts val="0"/>
              </a:spcBef>
              <a:spcAft>
                <a:spcPts val="0"/>
              </a:spcAft>
              <a:buClr>
                <a:srgbClr val="000000"/>
              </a:buClr>
              <a:buSzPts val="900"/>
              <a:buFont typeface="Arial"/>
              <a:buNone/>
            </a:pPr>
            <a:r>
              <a:rPr b="1" lang="en" sz="1100">
                <a:solidFill>
                  <a:schemeClr val="dk1"/>
                </a:solidFill>
              </a:rPr>
              <a:t>Goal:</a:t>
            </a:r>
            <a:r>
              <a:rPr lang="en" sz="1100">
                <a:solidFill>
                  <a:schemeClr val="dk1"/>
                </a:solidFill>
              </a:rPr>
              <a:t> Get instant, clear, and personalized financial guidance using an AI assistant that explains money concepts, suggests smart financial actions, and helps build long-term wealth confidently.</a:t>
            </a:r>
            <a:endParaRPr b="1" sz="900">
              <a:solidFill>
                <a:schemeClr val="dk1"/>
              </a:solidFill>
            </a:endParaRPr>
          </a:p>
        </p:txBody>
      </p:sp>
      <p:sp>
        <p:nvSpPr>
          <p:cNvPr id="164" name="Google Shape;164;p24"/>
          <p:cNvSpPr txBox="1"/>
          <p:nvPr/>
        </p:nvSpPr>
        <p:spPr>
          <a:xfrm>
            <a:off x="0" y="1083375"/>
            <a:ext cx="1537200" cy="384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n">
                <a:solidFill>
                  <a:schemeClr val="dk1"/>
                </a:solidFill>
              </a:rPr>
              <a:t>The journey of Rudhra shows how the AI-powered financial assistant helps him understand money concepts, plan finances, take smart actions, and improve financial habits confidently.</a:t>
            </a:r>
            <a:endParaRPr b="0" i="0" sz="1400" u="none" cap="none" strike="noStrike">
              <a:solidFill>
                <a:schemeClr val="dk1"/>
              </a:solidFill>
              <a:latin typeface="Times New Roman"/>
              <a:ea typeface="Times New Roman"/>
              <a:cs typeface="Times New Roman"/>
              <a:sym typeface="Times New Roman"/>
            </a:endParaRPr>
          </a:p>
        </p:txBody>
      </p:sp>
      <p:graphicFrame>
        <p:nvGraphicFramePr>
          <p:cNvPr id="165" name="Google Shape;165;p24"/>
          <p:cNvGraphicFramePr/>
          <p:nvPr/>
        </p:nvGraphicFramePr>
        <p:xfrm>
          <a:off x="1537200" y="1182125"/>
          <a:ext cx="3000000" cy="3000000"/>
        </p:xfrm>
        <a:graphic>
          <a:graphicData uri="http://schemas.openxmlformats.org/drawingml/2006/table">
            <a:tbl>
              <a:tblPr>
                <a:noFill/>
                <a:tableStyleId>{BD53AD96-C7DA-4D1C-9958-A0DA723F0F99}</a:tableStyleId>
              </a:tblPr>
              <a:tblGrid>
                <a:gridCol w="1428725"/>
                <a:gridCol w="1242400"/>
                <a:gridCol w="1097425"/>
                <a:gridCol w="1215700"/>
                <a:gridCol w="1109025"/>
                <a:gridCol w="1349875"/>
              </a:tblGrid>
              <a:tr h="635025">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ACTION</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Understand Financial Situation</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Get AI-Based Guidance</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Use Financial Tools</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Learn Through Education Hub</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Track Progress &amp; Improve Wealth</a:t>
                      </a:r>
                      <a:endParaRPr b="1" sz="1100">
                        <a:latin typeface="Times New Roman"/>
                        <a:ea typeface="Times New Roman"/>
                        <a:cs typeface="Times New Roman"/>
                        <a:sym typeface="Times New Roman"/>
                      </a:endParaRPr>
                    </a:p>
                  </a:txBody>
                  <a:tcPr marT="91425" marB="91425" marR="91425" marL="91425"/>
                </a:tc>
              </a:tr>
              <a:tr h="14074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TASK LIST</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 Ask chatbot about budgeting, investments, or tax. b. Enter income &amp; expense details.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 Read AI explanation in simple terms.</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b. View personalized suggestions &amp; risk profile.</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 Use EMI/SIP calculator. </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b. Estimate Tax coverage.</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 Read short finance lessons. b. Read daily tips.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 Check goal progress dashboard. </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b. Review monthly financial summary &amp; insights.</a:t>
                      </a:r>
                      <a:endParaRPr sz="1000">
                        <a:latin typeface="Times New Roman"/>
                        <a:ea typeface="Times New Roman"/>
                        <a:cs typeface="Times New Roman"/>
                        <a:sym typeface="Times New Roman"/>
                      </a:endParaRPr>
                    </a:p>
                  </a:txBody>
                  <a:tcPr marT="91425" marB="91425" marR="91425" marL="91425"/>
                </a:tc>
              </a:tr>
              <a:tr h="72085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FEELING ADJECTIVE</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I feel understood and aware.</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I feel informed and confident.</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I feel empowered and in control.</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I feel educated and financially smarter.</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I feel motivated and financially secure.</a:t>
                      </a:r>
                      <a:endParaRPr sz="1000">
                        <a:latin typeface="Times New Roman"/>
                        <a:ea typeface="Times New Roman"/>
                        <a:cs typeface="Times New Roman"/>
                        <a:sym typeface="Times New Roman"/>
                      </a:endParaRPr>
                    </a:p>
                  </a:txBody>
                  <a:tcPr marT="91425" marB="91425" marR="91425" marL="91425"/>
                </a:tc>
              </a:tr>
              <a:tr h="9783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IMPROVEMENT OPPORTUNITIES</a:t>
                      </a:r>
                      <a:endParaRPr b="1" sz="11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Add voice-based financial queries.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Provide multilingual financial explanations.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Offer scenario simulation (e.g., “What if I invest ₹5000 monthly?”).</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Add interactive mini-challenges.</a:t>
                      </a:r>
                      <a:endParaRPr sz="10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Provide AI-generated weekly financial performance reports.</a:t>
                      </a:r>
                      <a:endParaRPr sz="10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nvSpPr>
        <p:spPr>
          <a:xfrm>
            <a:off x="1301950" y="1569075"/>
            <a:ext cx="6264900" cy="16500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6700"/>
              <a:buFont typeface="Arial"/>
              <a:buNone/>
            </a:pPr>
            <a:r>
              <a:rPr b="1" i="0" lang="en" sz="6700" u="none" cap="none" strike="noStrike">
                <a:solidFill>
                  <a:schemeClr val="dk1"/>
                </a:solidFill>
                <a:latin typeface="Maven Pro"/>
                <a:ea typeface="Maven Pro"/>
                <a:cs typeface="Maven Pro"/>
                <a:sym typeface="Maven Pro"/>
              </a:rPr>
              <a:t>COMPETITIVE ANALYSIS</a:t>
            </a:r>
            <a:endParaRPr b="0" i="0" sz="67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idx="1" type="body"/>
          </p:nvPr>
        </p:nvSpPr>
        <p:spPr>
          <a:xfrm>
            <a:off x="340200" y="1165350"/>
            <a:ext cx="8832300" cy="36105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SzPts val="1100"/>
              <a:buNone/>
            </a:pPr>
            <a:r>
              <a:rPr lang="en" sz="1600"/>
              <a:t>The user research for the AI-Powered Financial Literacy App focused on understanding how individuals struggle to access reliable, personalized, and easy-to-understand financial guidance. I analyzed common user behaviors and pain points by studying existing platforms such as finance blogs, YouTube financial educators, banking apps, investment platforms, and generic budgeting tools, observing their limitations. I also reviewed discussions from finance forums, app reviews, and Q&amp;A platforms, which revealed that users need simplified explanations of concepts like SIP, tax deductions and EMI Calculator. Users expressed the need for personalized recommendations, risk-level indicators, goal-based planning support, and structured learning paths instead of random financial content. The research highlighted a strong demand for a trustworthy, AI-driven assistant that combines financial education, practical tools, and intelligent guidance in one easy-to-use platform, empowering users to make confident financial decisions without relying solely on expensive advisors or confusing internet searches.</a:t>
            </a:r>
            <a:endParaRPr sz="1600"/>
          </a:p>
          <a:p>
            <a:pPr indent="0" lvl="0" marL="0" rtl="0" algn="just">
              <a:lnSpc>
                <a:spcPct val="115000"/>
              </a:lnSpc>
              <a:spcBef>
                <a:spcPts val="1200"/>
              </a:spcBef>
              <a:spcAft>
                <a:spcPts val="1200"/>
              </a:spcAft>
              <a:buSzPts val="1300"/>
              <a:buNone/>
            </a:pPr>
            <a:r>
              <a:t/>
            </a:r>
            <a:endParaRPr sz="1600"/>
          </a:p>
        </p:txBody>
      </p:sp>
      <p:sp>
        <p:nvSpPr>
          <p:cNvPr id="176" name="Google Shape;176;p26"/>
          <p:cNvSpPr txBox="1"/>
          <p:nvPr/>
        </p:nvSpPr>
        <p:spPr>
          <a:xfrm>
            <a:off x="1139852" y="419325"/>
            <a:ext cx="7233000" cy="9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3500" u="none" cap="none" strike="noStrike">
                <a:solidFill>
                  <a:schemeClr val="dk1"/>
                </a:solidFill>
                <a:latin typeface="Maven Pro"/>
                <a:ea typeface="Maven Pro"/>
                <a:cs typeface="Maven Pro"/>
                <a:sym typeface="Maven Pro"/>
              </a:rPr>
              <a:t>User Research: Summary</a:t>
            </a:r>
            <a:endParaRPr b="1" i="0" sz="3500" u="none" cap="none" strike="noStrike">
              <a:solidFill>
                <a:schemeClr val="dk1"/>
              </a:solidFill>
              <a:latin typeface="Maven Pro"/>
              <a:ea typeface="Maven Pro"/>
              <a:cs typeface="Maven Pro"/>
              <a:sym typeface="Maven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nvSpPr>
        <p:spPr>
          <a:xfrm>
            <a:off x="903983" y="854450"/>
            <a:ext cx="7776000" cy="3572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sz="1100">
                <a:solidFill>
                  <a:schemeClr val="dk1"/>
                </a:solidFill>
              </a:rPr>
              <a:t>GAP Evaluation</a:t>
            </a:r>
            <a:br>
              <a:rPr b="1" lang="en" sz="1100">
                <a:solidFill>
                  <a:schemeClr val="dk1"/>
                </a:solidFill>
              </a:rPr>
            </a:br>
            <a:r>
              <a:rPr lang="en" sz="1100">
                <a:solidFill>
                  <a:schemeClr val="dk1"/>
                </a:solidFill>
              </a:rPr>
              <a:t>Most existing financial information sources—such as Google searches, finance blogs, YouTube channels, and investment platforms—are not beginner-friendly and often overwhelm users with technical jargon, inconsistent advice, or sales-driven content. Many apps focus mainly on transactions (banking, trading, payments) rather than education and personalized financial guidance. While calculators are available, they often lack simple explanations of results or actionable next steps. Traditional financial advisory services are expensive and not accessible for everyday doubts. </a:t>
            </a:r>
            <a:endParaRPr sz="1100">
              <a:solidFill>
                <a:schemeClr val="dk1"/>
              </a:solidFill>
            </a:endParaRPr>
          </a:p>
          <a:p>
            <a:pPr indent="0" lvl="0" marL="0" rtl="0" algn="just">
              <a:lnSpc>
                <a:spcPct val="115000"/>
              </a:lnSpc>
              <a:spcBef>
                <a:spcPts val="1200"/>
              </a:spcBef>
              <a:spcAft>
                <a:spcPts val="0"/>
              </a:spcAft>
              <a:buNone/>
            </a:pPr>
            <a:r>
              <a:rPr b="1" lang="en" sz="1100">
                <a:solidFill>
                  <a:schemeClr val="dk1"/>
                </a:solidFill>
              </a:rPr>
              <a:t>The Intended Audience</a:t>
            </a:r>
            <a:br>
              <a:rPr b="1" lang="en" sz="1100">
                <a:solidFill>
                  <a:schemeClr val="dk1"/>
                </a:solidFill>
              </a:rPr>
            </a:br>
            <a:r>
              <a:rPr lang="en" sz="1100">
                <a:solidFill>
                  <a:schemeClr val="dk1"/>
                </a:solidFill>
              </a:rPr>
              <a:t>This application is designed for individuals seeking quick, reliable financial guidance, including students, working professionals, young earners, parents, small business owners, aspiring investors, and anyone looking to improve financial literacy. It is especially useful for people who lack access to professional financial advisors, feel confused by financial jargon, or want personalized support for budgeting, investing, tax planning, insurance coverage, and retirement planning. The app also supports users who want to build disciplined money habits and make confident long-term financial decisions.</a:t>
            </a:r>
            <a:endParaRPr sz="1100">
              <a:solidFill>
                <a:schemeClr val="dk1"/>
              </a:solidFill>
            </a:endParaRPr>
          </a:p>
          <a:p>
            <a:pPr indent="0" lvl="0" marL="0" rtl="0" algn="just">
              <a:lnSpc>
                <a:spcPct val="115000"/>
              </a:lnSpc>
              <a:spcBef>
                <a:spcPts val="1200"/>
              </a:spcBef>
              <a:spcAft>
                <a:spcPts val="1200"/>
              </a:spcAft>
              <a:buNone/>
            </a:pPr>
            <a:r>
              <a:rPr b="1" lang="en" sz="1100">
                <a:solidFill>
                  <a:schemeClr val="dk1"/>
                </a:solidFill>
              </a:rPr>
              <a:t>Market Cap:</a:t>
            </a:r>
            <a:br>
              <a:rPr b="1" lang="en" sz="1100">
                <a:solidFill>
                  <a:schemeClr val="dk1"/>
                </a:solidFill>
              </a:rPr>
            </a:br>
            <a:r>
              <a:rPr lang="en" sz="1100">
                <a:solidFill>
                  <a:schemeClr val="dk1"/>
                </a:solidFill>
              </a:rPr>
              <a:t>The global FinTech and digital financial education market is rapidly expanding, with the AI-driven financial services sector projected to grow significantly in the coming years. The global FinTech market is expected to exceed $300 billion by 2030, with AI-based financial advisory and robo-advisory platforms becoming increasingly popular. In India alone, financial literacy remains a major challenge, with a large percentage of the population lacking structured financial education while over 750 million smartphone users rely on mobile apps for daily services. </a:t>
            </a:r>
            <a:endParaRPr b="1" sz="1100">
              <a:solidFill>
                <a:schemeClr val="dk1"/>
              </a:solidFill>
            </a:endParaRPr>
          </a:p>
        </p:txBody>
      </p:sp>
      <p:sp>
        <p:nvSpPr>
          <p:cNvPr id="182" name="Google Shape;182;p27"/>
          <p:cNvSpPr txBox="1"/>
          <p:nvPr/>
        </p:nvSpPr>
        <p:spPr>
          <a:xfrm>
            <a:off x="1743941" y="136300"/>
            <a:ext cx="5752800" cy="9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3500" u="none" cap="none" strike="noStrike">
                <a:solidFill>
                  <a:schemeClr val="dk1"/>
                </a:solidFill>
                <a:latin typeface="Maven Pro"/>
                <a:ea typeface="Maven Pro"/>
                <a:cs typeface="Maven Pro"/>
                <a:sym typeface="Maven Pro"/>
              </a:rPr>
              <a:t>BUSINESS POTENTIAL</a:t>
            </a:r>
            <a:endParaRPr b="1" i="0" sz="3500" u="none" cap="none" strike="noStrike">
              <a:solidFill>
                <a:schemeClr val="dk1"/>
              </a:solidFill>
              <a:latin typeface="Maven Pro"/>
              <a:ea typeface="Maven Pro"/>
              <a:cs typeface="Maven Pro"/>
              <a:sym typeface="Maven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28"/>
          <p:cNvSpPr txBox="1"/>
          <p:nvPr/>
        </p:nvSpPr>
        <p:spPr>
          <a:xfrm>
            <a:off x="423875" y="261702"/>
            <a:ext cx="3616200" cy="295500"/>
          </a:xfrm>
          <a:prstGeom prst="rect">
            <a:avLst/>
          </a:prstGeom>
          <a:noFill/>
          <a:ln>
            <a:noFill/>
          </a:ln>
        </p:spPr>
        <p:txBody>
          <a:bodyPr anchorCtr="0" anchor="t" bIns="0" lIns="0" spcFirstLastPara="1" rIns="0" wrap="square" tIns="0">
            <a:spAutoFit/>
          </a:bodyPr>
          <a:lstStyle/>
          <a:p>
            <a:pPr indent="0" lvl="0" marL="0" marR="0" rtl="0" algn="l">
              <a:lnSpc>
                <a:spcPct val="80002"/>
              </a:lnSpc>
              <a:spcBef>
                <a:spcPts val="0"/>
              </a:spcBef>
              <a:spcAft>
                <a:spcPts val="0"/>
              </a:spcAft>
              <a:buClr>
                <a:srgbClr val="000000"/>
              </a:buClr>
              <a:buSzPts val="2400"/>
              <a:buFont typeface="Arial"/>
              <a:buNone/>
            </a:pPr>
            <a:r>
              <a:rPr b="1" i="0" lang="en" sz="2400" u="none" cap="none" strike="noStrike">
                <a:solidFill>
                  <a:schemeClr val="dk1"/>
                </a:solidFill>
                <a:latin typeface="Maven Pro"/>
                <a:ea typeface="Maven Pro"/>
                <a:cs typeface="Maven Pro"/>
                <a:sym typeface="Maven Pro"/>
              </a:rPr>
              <a:t>COMPETITIVE ANALYSIS</a:t>
            </a:r>
            <a:endParaRPr b="0" i="0" sz="2400" u="none" cap="none" strike="noStrike">
              <a:solidFill>
                <a:schemeClr val="dk1"/>
              </a:solidFill>
              <a:latin typeface="Arial"/>
              <a:ea typeface="Arial"/>
              <a:cs typeface="Arial"/>
              <a:sym typeface="Arial"/>
            </a:endParaRPr>
          </a:p>
        </p:txBody>
      </p:sp>
      <p:graphicFrame>
        <p:nvGraphicFramePr>
          <p:cNvPr id="188" name="Google Shape;188;p28"/>
          <p:cNvGraphicFramePr/>
          <p:nvPr/>
        </p:nvGraphicFramePr>
        <p:xfrm>
          <a:off x="7024750" y="587977"/>
          <a:ext cx="3000000" cy="3000000"/>
        </p:xfrm>
        <a:graphic>
          <a:graphicData uri="http://schemas.openxmlformats.org/drawingml/2006/table">
            <a:tbl>
              <a:tblPr>
                <a:noFill/>
                <a:tableStyleId>{6CF6ADCB-353B-41D2-99F0-C78000F2A1C8}</a:tableStyleId>
              </a:tblPr>
              <a:tblGrid>
                <a:gridCol w="948150"/>
                <a:gridCol w="986550"/>
              </a:tblGrid>
              <a:tr h="109922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Times New Roman"/>
                          <a:ea typeface="Times New Roman"/>
                          <a:cs typeface="Times New Roman"/>
                          <a:sym typeface="Times New Roman"/>
                        </a:rPr>
                        <a:t>App / Website Experience</a:t>
                      </a:r>
                      <a:endParaRPr b="1"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Times New Roman"/>
                          <a:ea typeface="Times New Roman"/>
                          <a:cs typeface="Times New Roman"/>
                          <a:sym typeface="Times New Roman"/>
                        </a:rPr>
                        <a:t>Observations</a:t>
                      </a:r>
                      <a:endParaRPr b="1"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696550">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Times New Roman"/>
                          <a:ea typeface="Times New Roman"/>
                          <a:cs typeface="Times New Roman"/>
                          <a:sym typeface="Times New Roman"/>
                        </a:rPr>
                        <a:t>Clean, simple chatbot interface with quick responses</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Times New Roman"/>
                          <a:ea typeface="Times New Roman"/>
                          <a:cs typeface="Times New Roman"/>
                          <a:sym typeface="Times New Roman"/>
                        </a:rPr>
                        <a:t>Good for basic Q&amp;A but lacks deep personalization and structured emergency guidance.</a:t>
                      </a:r>
                      <a:endParaRPr sz="9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13700">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Times New Roman"/>
                          <a:ea typeface="Times New Roman"/>
                          <a:cs typeface="Times New Roman"/>
                          <a:sym typeface="Times New Roman"/>
                        </a:rPr>
                        <a:t>Professional teledentistry-style UI with multiple features (chatbot, image upload, bookings)</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Times New Roman"/>
                          <a:ea typeface="Times New Roman"/>
                          <a:cs typeface="Times New Roman"/>
                          <a:sym typeface="Times New Roman"/>
                        </a:rPr>
                        <a:t>Feature-rich but overwhelming for users who only want quick self-care guidance; focuses more on clinics.</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89" name="Google Shape;189;p28"/>
          <p:cNvSpPr txBox="1"/>
          <p:nvPr/>
        </p:nvSpPr>
        <p:spPr>
          <a:xfrm>
            <a:off x="7024750" y="173102"/>
            <a:ext cx="1934700" cy="31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chemeClr val="dk1"/>
                </a:solidFill>
                <a:latin typeface="Times New Roman"/>
                <a:ea typeface="Times New Roman"/>
                <a:cs typeface="Times New Roman"/>
                <a:sym typeface="Times New Roman"/>
              </a:rPr>
              <a:t>First impression</a:t>
            </a:r>
            <a:endParaRPr b="1" i="0" sz="1200" u="none" cap="none" strike="noStrike">
              <a:solidFill>
                <a:schemeClr val="dk1"/>
              </a:solidFill>
              <a:latin typeface="Times New Roman"/>
              <a:ea typeface="Times New Roman"/>
              <a:cs typeface="Times New Roman"/>
              <a:sym typeface="Times New Roman"/>
            </a:endParaRPr>
          </a:p>
        </p:txBody>
      </p:sp>
      <p:graphicFrame>
        <p:nvGraphicFramePr>
          <p:cNvPr id="190" name="Google Shape;190;p28"/>
          <p:cNvGraphicFramePr/>
          <p:nvPr/>
        </p:nvGraphicFramePr>
        <p:xfrm>
          <a:off x="139525" y="562800"/>
          <a:ext cx="3000000" cy="3000000"/>
        </p:xfrm>
        <a:graphic>
          <a:graphicData uri="http://schemas.openxmlformats.org/drawingml/2006/table">
            <a:tbl>
              <a:tblPr>
                <a:noFill/>
                <a:tableStyleId>{BD53AD96-C7DA-4D1C-9958-A0DA723F0F99}</a:tableStyleId>
              </a:tblPr>
              <a:tblGrid>
                <a:gridCol w="836175"/>
                <a:gridCol w="777650"/>
                <a:gridCol w="670900"/>
                <a:gridCol w="870200"/>
                <a:gridCol w="409800"/>
                <a:gridCol w="615700"/>
                <a:gridCol w="795450"/>
                <a:gridCol w="1799775"/>
              </a:tblGrid>
              <a:tr h="771525">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a:t>
                      </a:r>
                      <a:r>
                        <a:rPr b="1" lang="en" sz="1200">
                          <a:latin typeface="Times New Roman"/>
                          <a:ea typeface="Times New Roman"/>
                          <a:cs typeface="Times New Roman"/>
                          <a:sym typeface="Times New Roman"/>
                        </a:rPr>
                        <a:t>Competitor</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Competitor type</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Location</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Product offering</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Price</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252D37"/>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Business size</a:t>
                      </a:r>
                      <a:endParaRPr b="1" sz="1200">
                        <a:latin typeface="Times New Roman"/>
                        <a:ea typeface="Times New Roman"/>
                        <a:cs typeface="Times New Roman"/>
                        <a:sym typeface="Times New Roman"/>
                      </a:endParaRPr>
                    </a:p>
                  </a:txBody>
                  <a:tcPr marT="9525" marB="9525" marR="9525" marL="9525">
                    <a:lnL cap="flat" cmpd="sng" w="7925">
                      <a:solidFill>
                        <a:srgbClr val="252D37"/>
                      </a:solidFill>
                      <a:prstDash val="solid"/>
                      <a:round/>
                      <a:headEnd len="sm" w="sm" type="none"/>
                      <a:tailEnd len="sm" w="sm" type="none"/>
                    </a:lnL>
                    <a:lnR cap="flat" cmpd="sng" w="7925">
                      <a:solidFill>
                        <a:srgbClr val="252D37"/>
                      </a:solidFill>
                      <a:prstDash val="solid"/>
                      <a:round/>
                      <a:headEnd len="sm" w="sm" type="none"/>
                      <a:tailEnd len="sm" w="sm" type="none"/>
                    </a:lnR>
                    <a:lnT cap="flat" cmpd="sng" w="7925">
                      <a:solidFill>
                        <a:srgbClr val="252D37"/>
                      </a:solidFill>
                      <a:prstDash val="solid"/>
                      <a:round/>
                      <a:headEnd len="sm" w="sm" type="none"/>
                      <a:tailEnd len="sm" w="sm" type="none"/>
                    </a:lnT>
                    <a:lnB cap="flat" cmpd="sng" w="7925">
                      <a:solidFill>
                        <a:srgbClr val="252D37"/>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Target Audience</a:t>
                      </a:r>
                      <a:endParaRPr b="1" sz="1200">
                        <a:latin typeface="Times New Roman"/>
                        <a:ea typeface="Times New Roman"/>
                        <a:cs typeface="Times New Roman"/>
                        <a:sym typeface="Times New Roman"/>
                      </a:endParaRPr>
                    </a:p>
                  </a:txBody>
                  <a:tcPr marT="9525" marB="9525" marR="9525" marL="9525">
                    <a:lnL cap="flat" cmpd="sng" w="7925">
                      <a:solidFill>
                        <a:srgbClr val="252D37"/>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Unique value proposition</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676400">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Purpose</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Financial literacy &amp; education platform</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India with focus on Tier-2 &amp; Tier-3 city learners</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100+ interactive, gamified courses covering personal finance</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Free</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Small–Medium</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252D37"/>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Students, job seekers, beginners in finance, early working professionals</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Combines structured financial literacy content with interactive tasks, vernacular language options, and real-life practical exercises to simplify learning for all age groups</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676400">
                <a:tc>
                  <a:txBody>
                    <a:bodyPr/>
                    <a:lstStyle/>
                    <a:p>
                      <a:pPr indent="0" lvl="0" marL="0" rtl="0" algn="l">
                        <a:lnSpc>
                          <a:spcPct val="115000"/>
                        </a:lnSpc>
                        <a:spcBef>
                          <a:spcPts val="1200"/>
                        </a:spcBef>
                        <a:spcAft>
                          <a:spcPts val="1200"/>
                        </a:spcAft>
                        <a:buNone/>
                      </a:pPr>
                      <a:r>
                        <a:rPr b="1" lang="en" sz="1200">
                          <a:latin typeface="Times New Roman"/>
                          <a:ea typeface="Times New Roman"/>
                          <a:cs typeface="Times New Roman"/>
                          <a:sym typeface="Times New Roman"/>
                        </a:rPr>
                        <a:t>Fili</a:t>
                      </a:r>
                      <a:endParaRPr b="1" sz="12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Financial literacy &amp; gamified learning</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India</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Short quiz &amp; games for lessons covering budgeting, saving, investing basics </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Free</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Small–Medium</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Teenagers, beginners</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100">
                          <a:latin typeface="Times New Roman"/>
                          <a:ea typeface="Times New Roman"/>
                          <a:cs typeface="Times New Roman"/>
                          <a:sym typeface="Times New Roman"/>
                        </a:rPr>
                        <a:t>Quick bite-sized education with gamification and a community learning experience for everyday finance concepts</a:t>
                      </a:r>
                      <a:endParaRPr sz="1100">
                        <a:latin typeface="Times New Roman"/>
                        <a:ea typeface="Times New Roman"/>
                        <a:cs typeface="Times New Roman"/>
                        <a:sym typeface="Times New Roman"/>
                      </a:endParaRPr>
                    </a:p>
                  </a:txBody>
                  <a:tcPr marT="9525" marB="9525" marR="9525" marL="9525">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nvSpPr>
        <p:spPr>
          <a:xfrm>
            <a:off x="385775" y="151787"/>
            <a:ext cx="3616200" cy="295500"/>
          </a:xfrm>
          <a:prstGeom prst="rect">
            <a:avLst/>
          </a:prstGeom>
          <a:noFill/>
          <a:ln>
            <a:noFill/>
          </a:ln>
        </p:spPr>
        <p:txBody>
          <a:bodyPr anchorCtr="0" anchor="t" bIns="0" lIns="0" spcFirstLastPara="1" rIns="0" wrap="square" tIns="0">
            <a:spAutoFit/>
          </a:bodyPr>
          <a:lstStyle/>
          <a:p>
            <a:pPr indent="0" lvl="0" marL="0" marR="0" rtl="0" algn="l">
              <a:lnSpc>
                <a:spcPct val="80002"/>
              </a:lnSpc>
              <a:spcBef>
                <a:spcPts val="0"/>
              </a:spcBef>
              <a:spcAft>
                <a:spcPts val="0"/>
              </a:spcAft>
              <a:buClr>
                <a:srgbClr val="000000"/>
              </a:buClr>
              <a:buSzPts val="2400"/>
              <a:buFont typeface="Arial"/>
              <a:buNone/>
            </a:pPr>
            <a:r>
              <a:rPr b="1" i="0" lang="en" sz="2400" u="none" cap="none" strike="noStrike">
                <a:solidFill>
                  <a:schemeClr val="dk1"/>
                </a:solidFill>
                <a:latin typeface="Maven Pro"/>
                <a:ea typeface="Maven Pro"/>
                <a:cs typeface="Maven Pro"/>
                <a:sym typeface="Maven Pro"/>
              </a:rPr>
              <a:t>COMPETITIVE ANALYSIS</a:t>
            </a:r>
            <a:endParaRPr b="0" i="0" sz="2400" u="none" cap="none" strike="noStrike">
              <a:solidFill>
                <a:schemeClr val="dk1"/>
              </a:solidFill>
              <a:latin typeface="Arial"/>
              <a:ea typeface="Arial"/>
              <a:cs typeface="Arial"/>
              <a:sym typeface="Arial"/>
            </a:endParaRPr>
          </a:p>
        </p:txBody>
      </p:sp>
      <p:sp>
        <p:nvSpPr>
          <p:cNvPr id="196" name="Google Shape;196;p29"/>
          <p:cNvSpPr txBox="1"/>
          <p:nvPr/>
        </p:nvSpPr>
        <p:spPr>
          <a:xfrm>
            <a:off x="6775138" y="942507"/>
            <a:ext cx="1934700" cy="31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chemeClr val="lt1"/>
                </a:solidFill>
                <a:latin typeface="Times New Roman"/>
                <a:ea typeface="Times New Roman"/>
                <a:cs typeface="Times New Roman"/>
                <a:sym typeface="Times New Roman"/>
              </a:rPr>
              <a:t>Visual Design</a:t>
            </a:r>
            <a:endParaRPr b="1" i="0" sz="1200" u="none" cap="none" strike="noStrike">
              <a:solidFill>
                <a:schemeClr val="lt1"/>
              </a:solidFill>
              <a:latin typeface="Times New Roman"/>
              <a:ea typeface="Times New Roman"/>
              <a:cs typeface="Times New Roman"/>
              <a:sym typeface="Times New Roman"/>
            </a:endParaRPr>
          </a:p>
        </p:txBody>
      </p:sp>
      <p:sp>
        <p:nvSpPr>
          <p:cNvPr id="197" name="Google Shape;197;p29"/>
          <p:cNvSpPr txBox="1"/>
          <p:nvPr/>
        </p:nvSpPr>
        <p:spPr>
          <a:xfrm>
            <a:off x="1476425" y="942482"/>
            <a:ext cx="1934700" cy="31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chemeClr val="lt1"/>
                </a:solidFill>
                <a:latin typeface="Times New Roman"/>
                <a:ea typeface="Times New Roman"/>
                <a:cs typeface="Times New Roman"/>
                <a:sym typeface="Times New Roman"/>
              </a:rPr>
              <a:t>Interaction</a:t>
            </a:r>
            <a:endParaRPr b="1" i="0" sz="1200" u="none" cap="none" strike="noStrike">
              <a:solidFill>
                <a:schemeClr val="lt1"/>
              </a:solidFill>
              <a:latin typeface="Times New Roman"/>
              <a:ea typeface="Times New Roman"/>
              <a:cs typeface="Times New Roman"/>
              <a:sym typeface="Times New Roman"/>
            </a:endParaRPr>
          </a:p>
        </p:txBody>
      </p:sp>
      <p:graphicFrame>
        <p:nvGraphicFramePr>
          <p:cNvPr id="198" name="Google Shape;198;p29"/>
          <p:cNvGraphicFramePr/>
          <p:nvPr/>
        </p:nvGraphicFramePr>
        <p:xfrm>
          <a:off x="295275" y="585975"/>
          <a:ext cx="3000000" cy="3000000"/>
        </p:xfrm>
        <a:graphic>
          <a:graphicData uri="http://schemas.openxmlformats.org/drawingml/2006/table">
            <a:tbl>
              <a:tblPr>
                <a:noFill/>
                <a:tableStyleId>{BD53AD96-C7DA-4D1C-9958-A0DA723F0F99}</a:tableStyleId>
              </a:tblPr>
              <a:tblGrid>
                <a:gridCol w="771525"/>
                <a:gridCol w="1514475"/>
                <a:gridCol w="1238250"/>
                <a:gridCol w="1133475"/>
                <a:gridCol w="1133475"/>
                <a:gridCol w="1009650"/>
                <a:gridCol w="2190750"/>
              </a:tblGrid>
              <a:tr h="588900">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Competitor</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AI Guidance Quality</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Accessibility</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User Flow</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Navigation</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Tone</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Times New Roman"/>
                          <a:ea typeface="Times New Roman"/>
                          <a:cs typeface="Times New Roman"/>
                          <a:sym typeface="Times New Roman"/>
                        </a:rPr>
                        <a:t>Content Description</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51325">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Purpose</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No AI chatbot; structured financial literacy courses with gamified learning</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Mobile + web; focused on India (Tier-2 &amp; Tier-3 cities)</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Course-based structured flow with interactive tasks</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Organized module navigation; learning-focused</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Educational, structured, beginner-friendly</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Provides 100+ interactive financial literacy courses with gamification, vernacular language support, and practical exercises, but lacks AI-driven personalized financial guidance</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230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Fili</a:t>
                      </a:r>
                      <a:endParaRPr b="1"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No AI personalization; quiz-based financial learning</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Mobile accessible in India</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Short quiz-based lessons; bite-sized engagement</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RATING:</a:t>
                      </a:r>
                      <a:r>
                        <a:rPr lang="en" sz="1100">
                          <a:latin typeface="Times New Roman"/>
                          <a:ea typeface="Times New Roman"/>
                          <a:cs typeface="Times New Roman"/>
                          <a:sym typeface="Times New Roman"/>
                        </a:rPr>
                        <a:t> Simple navigation centered around quizzes &amp; rewards</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Friendly, gamified, casual</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Offers quick bite-sized financial education with points &amp; rewards system, but limited depth, personalization, and advanced financial planning tools</a:t>
                      </a:r>
                      <a:endParaRPr sz="11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nvSpPr>
        <p:spPr>
          <a:xfrm>
            <a:off x="951100" y="242400"/>
            <a:ext cx="7539600" cy="4926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Clr>
                <a:srgbClr val="000000"/>
              </a:buClr>
              <a:buSzPts val="4000"/>
              <a:buFont typeface="Arial"/>
              <a:buNone/>
            </a:pPr>
            <a:r>
              <a:rPr b="1" i="0" lang="en" sz="4000" u="none" cap="none" strike="noStrike">
                <a:solidFill>
                  <a:schemeClr val="dk1"/>
                </a:solidFill>
                <a:latin typeface="Maven Pro"/>
                <a:ea typeface="Maven Pro"/>
                <a:cs typeface="Maven Pro"/>
                <a:sym typeface="Maven Pro"/>
              </a:rPr>
              <a:t>User Research: Pain Points</a:t>
            </a:r>
            <a:endParaRPr b="0" i="0" sz="700" u="none" cap="none" strike="noStrike">
              <a:solidFill>
                <a:schemeClr val="dk1"/>
              </a:solidFill>
              <a:latin typeface="Arial"/>
              <a:ea typeface="Arial"/>
              <a:cs typeface="Arial"/>
              <a:sym typeface="Arial"/>
            </a:endParaRPr>
          </a:p>
        </p:txBody>
      </p:sp>
      <p:sp>
        <p:nvSpPr>
          <p:cNvPr id="204" name="Google Shape;204;p30"/>
          <p:cNvSpPr txBox="1"/>
          <p:nvPr/>
        </p:nvSpPr>
        <p:spPr>
          <a:xfrm>
            <a:off x="1808650" y="1581700"/>
            <a:ext cx="7022700" cy="1023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lang="en">
                <a:solidFill>
                  <a:schemeClr val="dk1"/>
                </a:solidFill>
              </a:rPr>
              <a:t>Users often get overwhelmed by complex financial jargon, technical terms, and contradictory advice when searching online about investments, taxes or insurance.</a:t>
            </a:r>
            <a:endParaRPr b="0" i="0" sz="1400" u="none" cap="none" strike="noStrike">
              <a:solidFill>
                <a:schemeClr val="dk1"/>
              </a:solidFill>
              <a:latin typeface="Times New Roman"/>
              <a:ea typeface="Times New Roman"/>
              <a:cs typeface="Times New Roman"/>
              <a:sym typeface="Times New Roman"/>
            </a:endParaRPr>
          </a:p>
        </p:txBody>
      </p:sp>
      <p:sp>
        <p:nvSpPr>
          <p:cNvPr id="205" name="Google Shape;205;p30"/>
          <p:cNvSpPr txBox="1"/>
          <p:nvPr/>
        </p:nvSpPr>
        <p:spPr>
          <a:xfrm>
            <a:off x="1861650" y="2750514"/>
            <a:ext cx="7022700" cy="63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lang="en">
                <a:solidFill>
                  <a:schemeClr val="dk1"/>
                </a:solidFill>
              </a:rPr>
              <a:t>Financial learning resources are often text-heavy, unengaging, and not organized in a structured path (Beginner → Advanced), making it difficult for users to apply knowledge practically.</a:t>
            </a:r>
            <a:endParaRPr i="0" sz="1400" u="none" cap="none" strike="noStrike">
              <a:solidFill>
                <a:schemeClr val="dk1"/>
              </a:solidFill>
            </a:endParaRPr>
          </a:p>
        </p:txBody>
      </p:sp>
      <p:sp>
        <p:nvSpPr>
          <p:cNvPr id="206" name="Google Shape;206;p30"/>
          <p:cNvSpPr txBox="1"/>
          <p:nvPr/>
        </p:nvSpPr>
        <p:spPr>
          <a:xfrm>
            <a:off x="1894200" y="3874150"/>
            <a:ext cx="7022700" cy="83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Users may use calculators (EMI, SIP, tax), but they often don’t understand what the results mean or what actions to take next, leading to confusion and inaction.</a:t>
            </a:r>
            <a:endParaRPr>
              <a:solidFill>
                <a:schemeClr val="dk1"/>
              </a:solidFill>
            </a:endParaRPr>
          </a:p>
        </p:txBody>
      </p:sp>
      <p:sp>
        <p:nvSpPr>
          <p:cNvPr id="207" name="Google Shape;207;p30"/>
          <p:cNvSpPr txBox="1"/>
          <p:nvPr/>
        </p:nvSpPr>
        <p:spPr>
          <a:xfrm>
            <a:off x="171300" y="1377250"/>
            <a:ext cx="1545300" cy="1120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 sz="1600">
                <a:solidFill>
                  <a:schemeClr val="dk1"/>
                </a:solidFill>
                <a:latin typeface="Times New Roman"/>
                <a:ea typeface="Times New Roman"/>
                <a:cs typeface="Times New Roman"/>
                <a:sym typeface="Times New Roman"/>
              </a:rPr>
              <a:t>Confusing Online Financial Information</a:t>
            </a:r>
            <a:endParaRPr b="1" i="0" sz="1600" u="none" cap="none" strike="noStrike">
              <a:solidFill>
                <a:schemeClr val="dk1"/>
              </a:solidFill>
              <a:latin typeface="Times New Roman"/>
              <a:ea typeface="Times New Roman"/>
              <a:cs typeface="Times New Roman"/>
              <a:sym typeface="Times New Roman"/>
            </a:endParaRPr>
          </a:p>
        </p:txBody>
      </p:sp>
      <p:sp>
        <p:nvSpPr>
          <p:cNvPr id="208" name="Google Shape;208;p30"/>
          <p:cNvSpPr txBox="1"/>
          <p:nvPr/>
        </p:nvSpPr>
        <p:spPr>
          <a:xfrm>
            <a:off x="171300" y="2650775"/>
            <a:ext cx="1637400" cy="8301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 sz="1600">
                <a:solidFill>
                  <a:schemeClr val="dk1"/>
                </a:solidFill>
                <a:latin typeface="Times New Roman"/>
                <a:ea typeface="Times New Roman"/>
                <a:cs typeface="Times New Roman"/>
                <a:sym typeface="Times New Roman"/>
              </a:rPr>
              <a:t>Scattered and Non-Structured Financial Education</a:t>
            </a:r>
            <a:endParaRPr b="1" i="0" sz="1600" u="none" cap="none" strike="noStrike">
              <a:solidFill>
                <a:schemeClr val="dk1"/>
              </a:solidFill>
              <a:latin typeface="Times New Roman"/>
              <a:ea typeface="Times New Roman"/>
              <a:cs typeface="Times New Roman"/>
              <a:sym typeface="Times New Roman"/>
            </a:endParaRPr>
          </a:p>
        </p:txBody>
      </p:sp>
      <p:sp>
        <p:nvSpPr>
          <p:cNvPr id="209" name="Google Shape;209;p30"/>
          <p:cNvSpPr txBox="1"/>
          <p:nvPr/>
        </p:nvSpPr>
        <p:spPr>
          <a:xfrm>
            <a:off x="171250" y="3818300"/>
            <a:ext cx="1561500" cy="1023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 sz="1600">
                <a:solidFill>
                  <a:schemeClr val="dk1"/>
                </a:solidFill>
                <a:latin typeface="Times New Roman"/>
                <a:ea typeface="Times New Roman"/>
                <a:cs typeface="Times New Roman"/>
                <a:sym typeface="Times New Roman"/>
              </a:rPr>
              <a:t>Lack of Clear Actionable Steps</a:t>
            </a:r>
            <a:endParaRPr b="1" i="0" sz="15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nvSpPr>
        <p:spPr>
          <a:xfrm>
            <a:off x="910505" y="-145633"/>
            <a:ext cx="5752800" cy="675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1" i="0" lang="en" sz="3200" u="none" cap="none" strike="noStrike">
                <a:solidFill>
                  <a:schemeClr val="dk1"/>
                </a:solidFill>
                <a:latin typeface="Maven Pro"/>
                <a:ea typeface="Maven Pro"/>
                <a:cs typeface="Maven Pro"/>
                <a:sym typeface="Maven Pro"/>
              </a:rPr>
              <a:t>RAPID PROTOTYPING</a:t>
            </a:r>
            <a:endParaRPr b="1" i="0" sz="3200" u="none" cap="none" strike="noStrike">
              <a:solidFill>
                <a:schemeClr val="dk1"/>
              </a:solidFill>
              <a:latin typeface="Maven Pro"/>
              <a:ea typeface="Maven Pro"/>
              <a:cs typeface="Maven Pro"/>
              <a:sym typeface="Maven Pro"/>
            </a:endParaRPr>
          </a:p>
        </p:txBody>
      </p:sp>
      <p:sp>
        <p:nvSpPr>
          <p:cNvPr id="215" name="Google Shape;215;p31"/>
          <p:cNvSpPr txBox="1"/>
          <p:nvPr/>
        </p:nvSpPr>
        <p:spPr>
          <a:xfrm>
            <a:off x="910501" y="734817"/>
            <a:ext cx="1761000" cy="384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Times New Roman"/>
                <a:ea typeface="Times New Roman"/>
                <a:cs typeface="Times New Roman"/>
                <a:sym typeface="Times New Roman"/>
              </a:rPr>
              <a:t>FLOW DIAGRAM</a:t>
            </a:r>
            <a:endParaRPr b="1" i="0" sz="1400" u="none" cap="none" strike="noStrike">
              <a:solidFill>
                <a:schemeClr val="dk1"/>
              </a:solidFill>
              <a:latin typeface="Times New Roman"/>
              <a:ea typeface="Times New Roman"/>
              <a:cs typeface="Times New Roman"/>
              <a:sym typeface="Times New Roman"/>
            </a:endParaRPr>
          </a:p>
        </p:txBody>
      </p:sp>
      <p:sp>
        <p:nvSpPr>
          <p:cNvPr id="216" name="Google Shape;216;p31"/>
          <p:cNvSpPr txBox="1"/>
          <p:nvPr/>
        </p:nvSpPr>
        <p:spPr>
          <a:xfrm>
            <a:off x="202300" y="2490617"/>
            <a:ext cx="994800" cy="3843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Application</a:t>
            </a:r>
            <a:endParaRPr b="0" i="0" sz="1300" u="none" cap="none" strike="noStrike">
              <a:solidFill>
                <a:schemeClr val="dk1"/>
              </a:solidFill>
              <a:latin typeface="Times New Roman"/>
              <a:ea typeface="Times New Roman"/>
              <a:cs typeface="Times New Roman"/>
              <a:sym typeface="Times New Roman"/>
            </a:endParaRPr>
          </a:p>
        </p:txBody>
      </p:sp>
      <p:sp>
        <p:nvSpPr>
          <p:cNvPr id="217" name="Google Shape;217;p31"/>
          <p:cNvSpPr txBox="1"/>
          <p:nvPr/>
        </p:nvSpPr>
        <p:spPr>
          <a:xfrm>
            <a:off x="1357250" y="3627817"/>
            <a:ext cx="994800" cy="5577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Existing User</a:t>
            </a:r>
            <a:endParaRPr b="0" i="0" sz="1300" u="none" cap="none" strike="noStrike">
              <a:solidFill>
                <a:schemeClr val="dk1"/>
              </a:solidFill>
              <a:latin typeface="Times New Roman"/>
              <a:ea typeface="Times New Roman"/>
              <a:cs typeface="Times New Roman"/>
              <a:sym typeface="Times New Roman"/>
            </a:endParaRPr>
          </a:p>
        </p:txBody>
      </p:sp>
      <p:sp>
        <p:nvSpPr>
          <p:cNvPr id="218" name="Google Shape;218;p31"/>
          <p:cNvSpPr txBox="1"/>
          <p:nvPr/>
        </p:nvSpPr>
        <p:spPr>
          <a:xfrm>
            <a:off x="1357250" y="1324267"/>
            <a:ext cx="994800" cy="5577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Create New Account</a:t>
            </a:r>
            <a:endParaRPr b="0" i="0" sz="1300" u="none" cap="none" strike="noStrike">
              <a:solidFill>
                <a:schemeClr val="dk1"/>
              </a:solidFill>
              <a:latin typeface="Times New Roman"/>
              <a:ea typeface="Times New Roman"/>
              <a:cs typeface="Times New Roman"/>
              <a:sym typeface="Times New Roman"/>
            </a:endParaRPr>
          </a:p>
        </p:txBody>
      </p:sp>
      <p:sp>
        <p:nvSpPr>
          <p:cNvPr id="219" name="Google Shape;219;p31"/>
          <p:cNvSpPr txBox="1"/>
          <p:nvPr/>
        </p:nvSpPr>
        <p:spPr>
          <a:xfrm>
            <a:off x="2855150" y="2070379"/>
            <a:ext cx="994800" cy="3843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Times New Roman"/>
                <a:ea typeface="Times New Roman"/>
                <a:cs typeface="Times New Roman"/>
                <a:sym typeface="Times New Roman"/>
              </a:rPr>
              <a:t>Home Page</a:t>
            </a:r>
            <a:endParaRPr b="0" i="0" sz="1300" u="none" cap="none" strike="noStrike">
              <a:solidFill>
                <a:schemeClr val="dk1"/>
              </a:solidFill>
              <a:latin typeface="Times New Roman"/>
              <a:ea typeface="Times New Roman"/>
              <a:cs typeface="Times New Roman"/>
              <a:sym typeface="Times New Roman"/>
            </a:endParaRPr>
          </a:p>
        </p:txBody>
      </p:sp>
      <p:sp>
        <p:nvSpPr>
          <p:cNvPr id="220" name="Google Shape;220;p31"/>
          <p:cNvSpPr txBox="1"/>
          <p:nvPr/>
        </p:nvSpPr>
        <p:spPr>
          <a:xfrm>
            <a:off x="3534075" y="4026892"/>
            <a:ext cx="657600" cy="3843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Times New Roman"/>
                <a:ea typeface="Times New Roman"/>
                <a:cs typeface="Times New Roman"/>
                <a:sym typeface="Times New Roman"/>
              </a:rPr>
              <a:t>Chatbot</a:t>
            </a:r>
            <a:endParaRPr b="0" i="0" sz="1100" u="none" cap="none" strike="noStrike">
              <a:solidFill>
                <a:schemeClr val="dk1"/>
              </a:solidFill>
              <a:latin typeface="Times New Roman"/>
              <a:ea typeface="Times New Roman"/>
              <a:cs typeface="Times New Roman"/>
              <a:sym typeface="Times New Roman"/>
            </a:endParaRPr>
          </a:p>
        </p:txBody>
      </p:sp>
      <p:cxnSp>
        <p:nvCxnSpPr>
          <p:cNvPr id="221" name="Google Shape;221;p31"/>
          <p:cNvCxnSpPr>
            <a:stCxn id="216" idx="0"/>
            <a:endCxn id="218" idx="1"/>
          </p:cNvCxnSpPr>
          <p:nvPr/>
        </p:nvCxnSpPr>
        <p:spPr>
          <a:xfrm rot="-5400000">
            <a:off x="584800" y="1718117"/>
            <a:ext cx="887400" cy="657600"/>
          </a:xfrm>
          <a:prstGeom prst="curvedConnector2">
            <a:avLst/>
          </a:prstGeom>
          <a:noFill/>
          <a:ln cap="flat" cmpd="sng" w="9525">
            <a:solidFill>
              <a:schemeClr val="dk2"/>
            </a:solidFill>
            <a:prstDash val="solid"/>
            <a:round/>
            <a:headEnd len="sm" w="sm" type="none"/>
            <a:tailEnd len="sm" w="sm" type="stealth"/>
          </a:ln>
        </p:spPr>
      </p:cxnSp>
      <p:cxnSp>
        <p:nvCxnSpPr>
          <p:cNvPr id="222" name="Google Shape;222;p31"/>
          <p:cNvCxnSpPr>
            <a:stCxn id="216" idx="2"/>
            <a:endCxn id="217" idx="1"/>
          </p:cNvCxnSpPr>
          <p:nvPr/>
        </p:nvCxnSpPr>
        <p:spPr>
          <a:xfrm flipH="1" rot="-5400000">
            <a:off x="512650" y="3061967"/>
            <a:ext cx="1031700" cy="657600"/>
          </a:xfrm>
          <a:prstGeom prst="curvedConnector2">
            <a:avLst/>
          </a:prstGeom>
          <a:noFill/>
          <a:ln cap="flat" cmpd="sng" w="9525">
            <a:solidFill>
              <a:schemeClr val="dk2"/>
            </a:solidFill>
            <a:prstDash val="solid"/>
            <a:round/>
            <a:headEnd len="sm" w="sm" type="none"/>
            <a:tailEnd len="sm" w="sm" type="stealth"/>
          </a:ln>
        </p:spPr>
      </p:cxnSp>
      <p:cxnSp>
        <p:nvCxnSpPr>
          <p:cNvPr id="223" name="Google Shape;223;p31"/>
          <p:cNvCxnSpPr>
            <a:stCxn id="217" idx="3"/>
            <a:endCxn id="219" idx="1"/>
          </p:cNvCxnSpPr>
          <p:nvPr/>
        </p:nvCxnSpPr>
        <p:spPr>
          <a:xfrm flipH="1" rot="10800000">
            <a:off x="2352050" y="2262667"/>
            <a:ext cx="503100" cy="1644000"/>
          </a:xfrm>
          <a:prstGeom prst="curvedConnector3">
            <a:avLst>
              <a:gd fmla="val 50000" name="adj1"/>
            </a:avLst>
          </a:prstGeom>
          <a:noFill/>
          <a:ln cap="flat" cmpd="sng" w="9525">
            <a:solidFill>
              <a:schemeClr val="dk2"/>
            </a:solidFill>
            <a:prstDash val="solid"/>
            <a:round/>
            <a:headEnd len="sm" w="sm" type="none"/>
            <a:tailEnd len="sm" w="sm" type="stealth"/>
          </a:ln>
        </p:spPr>
      </p:cxnSp>
      <p:cxnSp>
        <p:nvCxnSpPr>
          <p:cNvPr id="224" name="Google Shape;224;p31"/>
          <p:cNvCxnSpPr>
            <a:stCxn id="218" idx="3"/>
            <a:endCxn id="219" idx="1"/>
          </p:cNvCxnSpPr>
          <p:nvPr/>
        </p:nvCxnSpPr>
        <p:spPr>
          <a:xfrm>
            <a:off x="2352050" y="1603117"/>
            <a:ext cx="503100" cy="659400"/>
          </a:xfrm>
          <a:prstGeom prst="curvedConnector3">
            <a:avLst>
              <a:gd fmla="val 50000" name="adj1"/>
            </a:avLst>
          </a:prstGeom>
          <a:noFill/>
          <a:ln cap="flat" cmpd="sng" w="9525">
            <a:solidFill>
              <a:schemeClr val="dk2"/>
            </a:solidFill>
            <a:prstDash val="solid"/>
            <a:round/>
            <a:headEnd len="sm" w="sm" type="none"/>
            <a:tailEnd len="sm" w="sm" type="stealth"/>
          </a:ln>
        </p:spPr>
      </p:cxnSp>
      <p:cxnSp>
        <p:nvCxnSpPr>
          <p:cNvPr id="225" name="Google Shape;225;p31"/>
          <p:cNvCxnSpPr>
            <a:endCxn id="226" idx="1"/>
          </p:cNvCxnSpPr>
          <p:nvPr/>
        </p:nvCxnSpPr>
        <p:spPr>
          <a:xfrm flipH="1" rot="10800000">
            <a:off x="3075075" y="2849792"/>
            <a:ext cx="1237500" cy="3300"/>
          </a:xfrm>
          <a:prstGeom prst="straightConnector1">
            <a:avLst/>
          </a:prstGeom>
          <a:noFill/>
          <a:ln cap="flat" cmpd="sng" w="9525">
            <a:solidFill>
              <a:schemeClr val="dk2"/>
            </a:solidFill>
            <a:prstDash val="solid"/>
            <a:round/>
            <a:headEnd len="med" w="med" type="none"/>
            <a:tailEnd len="med" w="med" type="stealth"/>
          </a:ln>
        </p:spPr>
      </p:cxnSp>
      <p:sp>
        <p:nvSpPr>
          <p:cNvPr id="226" name="Google Shape;226;p31"/>
          <p:cNvSpPr txBox="1"/>
          <p:nvPr/>
        </p:nvSpPr>
        <p:spPr>
          <a:xfrm>
            <a:off x="4312575" y="2672792"/>
            <a:ext cx="657600" cy="3540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Times New Roman"/>
                <a:ea typeface="Times New Roman"/>
                <a:cs typeface="Times New Roman"/>
                <a:sym typeface="Times New Roman"/>
              </a:rPr>
              <a:t> Profile</a:t>
            </a:r>
            <a:endParaRPr sz="1100">
              <a:solidFill>
                <a:schemeClr val="dk1"/>
              </a:solidFill>
              <a:latin typeface="Times New Roman"/>
              <a:ea typeface="Times New Roman"/>
              <a:cs typeface="Times New Roman"/>
              <a:sym typeface="Times New Roman"/>
            </a:endParaRPr>
          </a:p>
        </p:txBody>
      </p:sp>
      <p:cxnSp>
        <p:nvCxnSpPr>
          <p:cNvPr id="227" name="Google Shape;227;p31"/>
          <p:cNvCxnSpPr>
            <a:endCxn id="228" idx="1"/>
          </p:cNvCxnSpPr>
          <p:nvPr/>
        </p:nvCxnSpPr>
        <p:spPr>
          <a:xfrm flipH="1" rot="10800000">
            <a:off x="3060400" y="3390767"/>
            <a:ext cx="3189600" cy="25500"/>
          </a:xfrm>
          <a:prstGeom prst="straightConnector1">
            <a:avLst/>
          </a:prstGeom>
          <a:noFill/>
          <a:ln cap="flat" cmpd="sng" w="9525">
            <a:solidFill>
              <a:schemeClr val="dk2"/>
            </a:solidFill>
            <a:prstDash val="solid"/>
            <a:round/>
            <a:headEnd len="med" w="med" type="none"/>
            <a:tailEnd len="med" w="med" type="stealth"/>
          </a:ln>
        </p:spPr>
      </p:cxnSp>
      <p:sp>
        <p:nvSpPr>
          <p:cNvPr id="228" name="Google Shape;228;p31"/>
          <p:cNvSpPr txBox="1"/>
          <p:nvPr/>
        </p:nvSpPr>
        <p:spPr>
          <a:xfrm>
            <a:off x="6250000" y="3213767"/>
            <a:ext cx="657600" cy="3540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Times New Roman"/>
                <a:ea typeface="Times New Roman"/>
                <a:cs typeface="Times New Roman"/>
                <a:sym typeface="Times New Roman"/>
              </a:rPr>
              <a:t>Settings</a:t>
            </a:r>
            <a:endParaRPr sz="1100">
              <a:solidFill>
                <a:schemeClr val="dk1"/>
              </a:solidFill>
              <a:latin typeface="Times New Roman"/>
              <a:ea typeface="Times New Roman"/>
              <a:cs typeface="Times New Roman"/>
              <a:sym typeface="Times New Roman"/>
            </a:endParaRPr>
          </a:p>
        </p:txBody>
      </p:sp>
      <p:sp>
        <p:nvSpPr>
          <p:cNvPr id="229" name="Google Shape;229;p31"/>
          <p:cNvSpPr txBox="1"/>
          <p:nvPr/>
        </p:nvSpPr>
        <p:spPr>
          <a:xfrm>
            <a:off x="5034975" y="3728400"/>
            <a:ext cx="1761000" cy="985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300">
                <a:solidFill>
                  <a:schemeClr val="dk1"/>
                </a:solidFill>
                <a:latin typeface="Times New Roman"/>
                <a:ea typeface="Times New Roman"/>
                <a:cs typeface="Times New Roman"/>
                <a:sym typeface="Times New Roman"/>
              </a:rPr>
              <a:t>User Profile</a:t>
            </a:r>
            <a:endParaRPr sz="1300">
              <a:solidFill>
                <a:schemeClr val="dk1"/>
              </a:solidFill>
              <a:latin typeface="Times New Roman"/>
              <a:ea typeface="Times New Roman"/>
              <a:cs typeface="Times New Roman"/>
              <a:sym typeface="Times New Roman"/>
            </a:endParaRPr>
          </a:p>
          <a:p>
            <a:pPr indent="-311150" lvl="0" marL="457200" marR="0" rtl="0" algn="l">
              <a:lnSpc>
                <a:spcPct val="100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Goals</a:t>
            </a:r>
            <a:endParaRPr sz="1300">
              <a:solidFill>
                <a:schemeClr val="dk1"/>
              </a:solidFill>
              <a:latin typeface="Times New Roman"/>
              <a:ea typeface="Times New Roman"/>
              <a:cs typeface="Times New Roman"/>
              <a:sym typeface="Times New Roman"/>
            </a:endParaRPr>
          </a:p>
          <a:p>
            <a:pPr indent="-311150" lvl="0" marL="457200" marR="0" rtl="0" algn="l">
              <a:lnSpc>
                <a:spcPct val="100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History</a:t>
            </a:r>
            <a:endParaRPr sz="1300">
              <a:solidFill>
                <a:schemeClr val="dk1"/>
              </a:solidFill>
              <a:latin typeface="Times New Roman"/>
              <a:ea typeface="Times New Roman"/>
              <a:cs typeface="Times New Roman"/>
              <a:sym typeface="Times New Roman"/>
            </a:endParaRPr>
          </a:p>
          <a:p>
            <a:pPr indent="-311150" lvl="0" marL="457200" marR="0" rtl="0" algn="l">
              <a:lnSpc>
                <a:spcPct val="100000"/>
              </a:lnSpc>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Preferences</a:t>
            </a:r>
            <a:endParaRPr sz="1300">
              <a:solidFill>
                <a:schemeClr val="dk1"/>
              </a:solidFill>
              <a:latin typeface="Times New Roman"/>
              <a:ea typeface="Times New Roman"/>
              <a:cs typeface="Times New Roman"/>
              <a:sym typeface="Times New Roman"/>
            </a:endParaRPr>
          </a:p>
        </p:txBody>
      </p:sp>
      <p:cxnSp>
        <p:nvCxnSpPr>
          <p:cNvPr id="230" name="Google Shape;230;p31"/>
          <p:cNvCxnSpPr>
            <a:stCxn id="220" idx="3"/>
            <a:endCxn id="229" idx="1"/>
          </p:cNvCxnSpPr>
          <p:nvPr/>
        </p:nvCxnSpPr>
        <p:spPr>
          <a:xfrm>
            <a:off x="4191675" y="4219042"/>
            <a:ext cx="843300" cy="2100"/>
          </a:xfrm>
          <a:prstGeom prst="straightConnector1">
            <a:avLst/>
          </a:prstGeom>
          <a:noFill/>
          <a:ln cap="flat" cmpd="sng" w="9525">
            <a:solidFill>
              <a:schemeClr val="dk2"/>
            </a:solidFill>
            <a:prstDash val="solid"/>
            <a:round/>
            <a:headEnd len="med" w="med" type="none"/>
            <a:tailEnd len="med" w="med" type="stealth"/>
          </a:ln>
        </p:spPr>
      </p:cxnSp>
      <p:cxnSp>
        <p:nvCxnSpPr>
          <p:cNvPr id="231" name="Google Shape;231;p31"/>
          <p:cNvCxnSpPr/>
          <p:nvPr/>
        </p:nvCxnSpPr>
        <p:spPr>
          <a:xfrm flipH="1">
            <a:off x="3044175" y="2458367"/>
            <a:ext cx="11700" cy="1770600"/>
          </a:xfrm>
          <a:prstGeom prst="straightConnector1">
            <a:avLst/>
          </a:prstGeom>
          <a:noFill/>
          <a:ln cap="flat" cmpd="sng" w="9525">
            <a:solidFill>
              <a:schemeClr val="dk2"/>
            </a:solidFill>
            <a:prstDash val="solid"/>
            <a:round/>
            <a:headEnd len="med" w="med" type="none"/>
            <a:tailEnd len="med" w="med" type="none"/>
          </a:ln>
        </p:spPr>
      </p:cxnSp>
      <p:cxnSp>
        <p:nvCxnSpPr>
          <p:cNvPr id="232" name="Google Shape;232;p31"/>
          <p:cNvCxnSpPr/>
          <p:nvPr/>
        </p:nvCxnSpPr>
        <p:spPr>
          <a:xfrm flipH="1" rot="10800000">
            <a:off x="3044175" y="4215142"/>
            <a:ext cx="491100" cy="11700"/>
          </a:xfrm>
          <a:prstGeom prst="straightConnector1">
            <a:avLst/>
          </a:prstGeom>
          <a:noFill/>
          <a:ln cap="flat" cmpd="sng" w="9525">
            <a:solidFill>
              <a:schemeClr val="dk2"/>
            </a:solidFill>
            <a:prstDash val="solid"/>
            <a:round/>
            <a:headEnd len="med" w="med" type="none"/>
            <a:tailEnd len="med" w="med" type="stealth"/>
          </a:ln>
        </p:spPr>
      </p:cxnSp>
      <p:cxnSp>
        <p:nvCxnSpPr>
          <p:cNvPr id="233" name="Google Shape;233;p31"/>
          <p:cNvCxnSpPr/>
          <p:nvPr/>
        </p:nvCxnSpPr>
        <p:spPr>
          <a:xfrm flipH="1" rot="10800000">
            <a:off x="3055875" y="1470392"/>
            <a:ext cx="1256700" cy="589200"/>
          </a:xfrm>
          <a:prstGeom prst="bentConnector3">
            <a:avLst>
              <a:gd fmla="val 503" name="adj1"/>
            </a:avLst>
          </a:prstGeom>
          <a:noFill/>
          <a:ln cap="flat" cmpd="sng" w="9525">
            <a:solidFill>
              <a:schemeClr val="dk2"/>
            </a:solidFill>
            <a:prstDash val="solid"/>
            <a:round/>
            <a:headEnd len="sm" w="sm" type="none"/>
            <a:tailEnd len="sm" w="sm" type="stealth"/>
          </a:ln>
        </p:spPr>
      </p:cxnSp>
      <p:sp>
        <p:nvSpPr>
          <p:cNvPr id="234" name="Google Shape;234;p31"/>
          <p:cNvSpPr txBox="1"/>
          <p:nvPr/>
        </p:nvSpPr>
        <p:spPr>
          <a:xfrm>
            <a:off x="3892450" y="1049750"/>
            <a:ext cx="1274400" cy="6927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100">
                <a:solidFill>
                  <a:schemeClr val="dk1"/>
                </a:solidFill>
                <a:latin typeface="Times New Roman"/>
                <a:ea typeface="Times New Roman"/>
                <a:cs typeface="Times New Roman"/>
                <a:sym typeface="Times New Roman"/>
              </a:rPr>
              <a:t>Real-Time Rates</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Gold Rate</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Silver Rate</a:t>
            </a:r>
            <a:endParaRPr sz="1300">
              <a:solidFill>
                <a:schemeClr val="dk1"/>
              </a:solidFill>
              <a:latin typeface="Times New Roman"/>
              <a:ea typeface="Times New Roman"/>
              <a:cs typeface="Times New Roman"/>
              <a:sym typeface="Times New Roman"/>
            </a:endParaRPr>
          </a:p>
        </p:txBody>
      </p:sp>
      <p:sp>
        <p:nvSpPr>
          <p:cNvPr id="235" name="Google Shape;235;p31"/>
          <p:cNvSpPr txBox="1"/>
          <p:nvPr/>
        </p:nvSpPr>
        <p:spPr>
          <a:xfrm>
            <a:off x="5570125" y="880400"/>
            <a:ext cx="1591800" cy="10314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100">
                <a:solidFill>
                  <a:schemeClr val="dk1"/>
                </a:solidFill>
                <a:latin typeface="Times New Roman"/>
                <a:ea typeface="Times New Roman"/>
                <a:cs typeface="Times New Roman"/>
                <a:sym typeface="Times New Roman"/>
              </a:rPr>
              <a:t>Learning Center</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Daily Financial Tips </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Articles</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Quizzes</a:t>
            </a:r>
            <a:endParaRPr sz="1300">
              <a:solidFill>
                <a:schemeClr val="dk1"/>
              </a:solidFill>
              <a:latin typeface="Times New Roman"/>
              <a:ea typeface="Times New Roman"/>
              <a:cs typeface="Times New Roman"/>
              <a:sym typeface="Times New Roman"/>
            </a:endParaRPr>
          </a:p>
        </p:txBody>
      </p:sp>
      <p:sp>
        <p:nvSpPr>
          <p:cNvPr id="236" name="Google Shape;236;p31"/>
          <p:cNvSpPr txBox="1"/>
          <p:nvPr/>
        </p:nvSpPr>
        <p:spPr>
          <a:xfrm>
            <a:off x="7401775" y="965150"/>
            <a:ext cx="1591800" cy="8619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100">
                <a:solidFill>
                  <a:schemeClr val="dk1"/>
                </a:solidFill>
                <a:latin typeface="Times New Roman"/>
                <a:ea typeface="Times New Roman"/>
                <a:cs typeface="Times New Roman"/>
                <a:sym typeface="Times New Roman"/>
              </a:rPr>
              <a:t>Financial Tool</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SIP Calculator</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EMI Calculator</a:t>
            </a:r>
            <a:endParaRPr sz="1100">
              <a:solidFill>
                <a:schemeClr val="dk1"/>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Tax Calculator</a:t>
            </a:r>
            <a:endParaRPr sz="1300">
              <a:solidFill>
                <a:schemeClr val="dk1"/>
              </a:solidFill>
              <a:latin typeface="Times New Roman"/>
              <a:ea typeface="Times New Roman"/>
              <a:cs typeface="Times New Roman"/>
              <a:sym typeface="Times New Roman"/>
            </a:endParaRPr>
          </a:p>
        </p:txBody>
      </p:sp>
      <p:cxnSp>
        <p:nvCxnSpPr>
          <p:cNvPr id="237" name="Google Shape;237;p31"/>
          <p:cNvCxnSpPr>
            <a:stCxn id="234" idx="3"/>
            <a:endCxn id="235" idx="1"/>
          </p:cNvCxnSpPr>
          <p:nvPr/>
        </p:nvCxnSpPr>
        <p:spPr>
          <a:xfrm>
            <a:off x="5166850" y="1396100"/>
            <a:ext cx="403200" cy="0"/>
          </a:xfrm>
          <a:prstGeom prst="straightConnector1">
            <a:avLst/>
          </a:prstGeom>
          <a:noFill/>
          <a:ln cap="flat" cmpd="sng" w="9525">
            <a:solidFill>
              <a:schemeClr val="dk2"/>
            </a:solidFill>
            <a:prstDash val="solid"/>
            <a:round/>
            <a:headEnd len="med" w="med" type="none"/>
            <a:tailEnd len="med" w="med" type="stealth"/>
          </a:ln>
        </p:spPr>
      </p:cxnSp>
      <p:cxnSp>
        <p:nvCxnSpPr>
          <p:cNvPr id="238" name="Google Shape;238;p31"/>
          <p:cNvCxnSpPr>
            <a:stCxn id="235" idx="3"/>
            <a:endCxn id="236" idx="1"/>
          </p:cNvCxnSpPr>
          <p:nvPr/>
        </p:nvCxnSpPr>
        <p:spPr>
          <a:xfrm>
            <a:off x="7161925" y="1396100"/>
            <a:ext cx="240000" cy="0"/>
          </a:xfrm>
          <a:prstGeom prst="straightConnector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nvSpPr>
        <p:spPr>
          <a:xfrm>
            <a:off x="939400" y="66250"/>
            <a:ext cx="6093000" cy="764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dk1"/>
                </a:solidFill>
                <a:latin typeface="Maven Pro"/>
                <a:ea typeface="Maven Pro"/>
                <a:cs typeface="Maven Pro"/>
                <a:sym typeface="Maven Pro"/>
              </a:rPr>
              <a:t>PROCESS DIAGRAM</a:t>
            </a:r>
            <a:endParaRPr b="1" i="0" sz="4000" u="none" cap="none" strike="noStrike">
              <a:solidFill>
                <a:schemeClr val="dk1"/>
              </a:solidFill>
              <a:latin typeface="Maven Pro"/>
              <a:ea typeface="Maven Pro"/>
              <a:cs typeface="Maven Pro"/>
              <a:sym typeface="Maven Pro"/>
            </a:endParaRPr>
          </a:p>
        </p:txBody>
      </p:sp>
      <p:sp>
        <p:nvSpPr>
          <p:cNvPr id="244" name="Google Shape;244;p32"/>
          <p:cNvSpPr/>
          <p:nvPr/>
        </p:nvSpPr>
        <p:spPr>
          <a:xfrm>
            <a:off x="334250" y="1924850"/>
            <a:ext cx="951000" cy="345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START</a:t>
            </a:r>
            <a:endParaRPr b="0" i="0" sz="1400" u="none" cap="none" strike="noStrike">
              <a:solidFill>
                <a:srgbClr val="000000"/>
              </a:solidFill>
              <a:latin typeface="Calibri"/>
              <a:ea typeface="Calibri"/>
              <a:cs typeface="Calibri"/>
              <a:sym typeface="Calibri"/>
            </a:endParaRPr>
          </a:p>
        </p:txBody>
      </p:sp>
      <p:sp>
        <p:nvSpPr>
          <p:cNvPr id="245" name="Google Shape;245;p32"/>
          <p:cNvSpPr/>
          <p:nvPr/>
        </p:nvSpPr>
        <p:spPr>
          <a:xfrm>
            <a:off x="1786550" y="1216000"/>
            <a:ext cx="951000" cy="4545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EXISTING USER</a:t>
            </a:r>
            <a:endParaRPr b="0" i="0" sz="1400" u="none" cap="none" strike="noStrike">
              <a:solidFill>
                <a:srgbClr val="000000"/>
              </a:solidFill>
              <a:latin typeface="Calibri"/>
              <a:ea typeface="Calibri"/>
              <a:cs typeface="Calibri"/>
              <a:sym typeface="Calibri"/>
            </a:endParaRPr>
          </a:p>
        </p:txBody>
      </p:sp>
      <p:sp>
        <p:nvSpPr>
          <p:cNvPr id="246" name="Google Shape;246;p32"/>
          <p:cNvSpPr/>
          <p:nvPr/>
        </p:nvSpPr>
        <p:spPr>
          <a:xfrm>
            <a:off x="1777925" y="2455975"/>
            <a:ext cx="812700" cy="4545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NEW USER</a:t>
            </a:r>
            <a:endParaRPr b="0" i="0" sz="1400" u="none" cap="none" strike="noStrike">
              <a:solidFill>
                <a:srgbClr val="000000"/>
              </a:solidFill>
              <a:latin typeface="Calibri"/>
              <a:ea typeface="Calibri"/>
              <a:cs typeface="Calibri"/>
              <a:sym typeface="Calibri"/>
            </a:endParaRPr>
          </a:p>
        </p:txBody>
      </p:sp>
      <p:sp>
        <p:nvSpPr>
          <p:cNvPr id="247" name="Google Shape;247;p32"/>
          <p:cNvSpPr/>
          <p:nvPr/>
        </p:nvSpPr>
        <p:spPr>
          <a:xfrm>
            <a:off x="1734725" y="3394425"/>
            <a:ext cx="899100" cy="345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REGISTER</a:t>
            </a:r>
            <a:endParaRPr b="0" i="0" sz="1400" u="none" cap="none" strike="noStrike">
              <a:solidFill>
                <a:srgbClr val="000000"/>
              </a:solidFill>
              <a:latin typeface="Calibri"/>
              <a:ea typeface="Calibri"/>
              <a:cs typeface="Calibri"/>
              <a:sym typeface="Calibri"/>
            </a:endParaRPr>
          </a:p>
        </p:txBody>
      </p:sp>
      <p:sp>
        <p:nvSpPr>
          <p:cNvPr id="248" name="Google Shape;248;p32"/>
          <p:cNvSpPr/>
          <p:nvPr/>
        </p:nvSpPr>
        <p:spPr>
          <a:xfrm>
            <a:off x="2936250" y="1987743"/>
            <a:ext cx="760800" cy="345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LOGIN</a:t>
            </a:r>
            <a:endParaRPr b="0" i="0" sz="1400" u="none" cap="none" strike="noStrike">
              <a:solidFill>
                <a:srgbClr val="000000"/>
              </a:solidFill>
              <a:latin typeface="Calibri"/>
              <a:ea typeface="Calibri"/>
              <a:cs typeface="Calibri"/>
              <a:sym typeface="Calibri"/>
            </a:endParaRPr>
          </a:p>
        </p:txBody>
      </p:sp>
      <p:cxnSp>
        <p:nvCxnSpPr>
          <p:cNvPr id="249" name="Google Shape;249;p32"/>
          <p:cNvCxnSpPr>
            <a:stCxn id="246" idx="1"/>
            <a:endCxn id="245" idx="1"/>
          </p:cNvCxnSpPr>
          <p:nvPr/>
        </p:nvCxnSpPr>
        <p:spPr>
          <a:xfrm flipH="1" rot="10800000">
            <a:off x="1777925" y="1443325"/>
            <a:ext cx="8700" cy="1239900"/>
          </a:xfrm>
          <a:prstGeom prst="bentConnector3">
            <a:avLst>
              <a:gd fmla="val -2737069" name="adj1"/>
            </a:avLst>
          </a:prstGeom>
          <a:noFill/>
          <a:ln cap="flat" cmpd="sng" w="9525">
            <a:solidFill>
              <a:schemeClr val="dk1"/>
            </a:solidFill>
            <a:prstDash val="solid"/>
            <a:round/>
            <a:headEnd len="sm" w="sm" type="none"/>
            <a:tailEnd len="sm" w="sm" type="none"/>
          </a:ln>
        </p:spPr>
      </p:cxnSp>
      <p:cxnSp>
        <p:nvCxnSpPr>
          <p:cNvPr id="250" name="Google Shape;250;p32"/>
          <p:cNvCxnSpPr>
            <a:stCxn id="246" idx="2"/>
            <a:endCxn id="247" idx="0"/>
          </p:cNvCxnSpPr>
          <p:nvPr/>
        </p:nvCxnSpPr>
        <p:spPr>
          <a:xfrm>
            <a:off x="2184275" y="2910475"/>
            <a:ext cx="0" cy="483900"/>
          </a:xfrm>
          <a:prstGeom prst="straightConnector1">
            <a:avLst/>
          </a:prstGeom>
          <a:noFill/>
          <a:ln cap="flat" cmpd="sng" w="9525">
            <a:solidFill>
              <a:schemeClr val="dk1"/>
            </a:solidFill>
            <a:prstDash val="solid"/>
            <a:round/>
            <a:headEnd len="sm" w="sm" type="none"/>
            <a:tailEnd len="med" w="med" type="triangle"/>
          </a:ln>
        </p:spPr>
      </p:cxnSp>
      <p:cxnSp>
        <p:nvCxnSpPr>
          <p:cNvPr id="251" name="Google Shape;251;p32"/>
          <p:cNvCxnSpPr>
            <a:stCxn id="245" idx="3"/>
            <a:endCxn id="248" idx="0"/>
          </p:cNvCxnSpPr>
          <p:nvPr/>
        </p:nvCxnSpPr>
        <p:spPr>
          <a:xfrm>
            <a:off x="2737550" y="1443250"/>
            <a:ext cx="579000" cy="544500"/>
          </a:xfrm>
          <a:prstGeom prst="bentConnector2">
            <a:avLst/>
          </a:prstGeom>
          <a:noFill/>
          <a:ln cap="flat" cmpd="sng" w="9525">
            <a:solidFill>
              <a:schemeClr val="dk1"/>
            </a:solidFill>
            <a:prstDash val="solid"/>
            <a:round/>
            <a:headEnd len="sm" w="sm" type="none"/>
            <a:tailEnd len="med" w="med" type="triangle"/>
          </a:ln>
        </p:spPr>
      </p:cxnSp>
      <p:cxnSp>
        <p:nvCxnSpPr>
          <p:cNvPr id="252" name="Google Shape;252;p32"/>
          <p:cNvCxnSpPr>
            <a:stCxn id="247" idx="3"/>
            <a:endCxn id="248" idx="2"/>
          </p:cNvCxnSpPr>
          <p:nvPr/>
        </p:nvCxnSpPr>
        <p:spPr>
          <a:xfrm flipH="1" rot="10800000">
            <a:off x="2633825" y="2333775"/>
            <a:ext cx="682800" cy="1233600"/>
          </a:xfrm>
          <a:prstGeom prst="bentConnector2">
            <a:avLst/>
          </a:prstGeom>
          <a:noFill/>
          <a:ln cap="flat" cmpd="sng" w="9525">
            <a:solidFill>
              <a:schemeClr val="dk1"/>
            </a:solidFill>
            <a:prstDash val="solid"/>
            <a:round/>
            <a:headEnd len="sm" w="sm" type="none"/>
            <a:tailEnd len="sm" w="sm" type="none"/>
          </a:ln>
        </p:spPr>
      </p:cxnSp>
      <p:cxnSp>
        <p:nvCxnSpPr>
          <p:cNvPr id="253" name="Google Shape;253;p32"/>
          <p:cNvCxnSpPr>
            <a:stCxn id="244" idx="3"/>
          </p:cNvCxnSpPr>
          <p:nvPr/>
        </p:nvCxnSpPr>
        <p:spPr>
          <a:xfrm flipH="1" rot="10800000">
            <a:off x="1285250" y="2095400"/>
            <a:ext cx="259800" cy="2400"/>
          </a:xfrm>
          <a:prstGeom prst="straightConnector1">
            <a:avLst/>
          </a:prstGeom>
          <a:noFill/>
          <a:ln cap="flat" cmpd="sng" w="9525">
            <a:solidFill>
              <a:schemeClr val="dk1"/>
            </a:solidFill>
            <a:prstDash val="solid"/>
            <a:round/>
            <a:headEnd len="sm" w="sm" type="none"/>
            <a:tailEnd len="sm" w="sm" type="none"/>
          </a:ln>
        </p:spPr>
      </p:cxnSp>
      <p:sp>
        <p:nvSpPr>
          <p:cNvPr id="254" name="Google Shape;254;p32"/>
          <p:cNvSpPr txBox="1"/>
          <p:nvPr/>
        </p:nvSpPr>
        <p:spPr>
          <a:xfrm>
            <a:off x="511450" y="4520885"/>
            <a:ext cx="7854600" cy="384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 sz="1300" u="sng" cap="none" strike="noStrike">
                <a:solidFill>
                  <a:schemeClr val="hlink"/>
                </a:solidFill>
                <a:latin typeface="Lato"/>
                <a:ea typeface="Lato"/>
                <a:cs typeface="Lato"/>
                <a:sym typeface="Lato"/>
                <a:hlinkClick r:id="rId3"/>
              </a:rPr>
              <a:t>The link is here.</a:t>
            </a:r>
            <a:endParaRPr b="1" i="0" sz="1300" u="none" cap="none" strike="noStrike">
              <a:solidFill>
                <a:schemeClr val="lt1"/>
              </a:solidFill>
              <a:latin typeface="Lato"/>
              <a:ea typeface="Lato"/>
              <a:cs typeface="Lato"/>
              <a:sym typeface="Lato"/>
            </a:endParaRPr>
          </a:p>
        </p:txBody>
      </p:sp>
      <p:sp>
        <p:nvSpPr>
          <p:cNvPr id="255" name="Google Shape;255;p32"/>
          <p:cNvSpPr txBox="1"/>
          <p:nvPr/>
        </p:nvSpPr>
        <p:spPr>
          <a:xfrm>
            <a:off x="3953650" y="1966125"/>
            <a:ext cx="1026600" cy="3843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lang="en" sz="1200">
                <a:solidFill>
                  <a:schemeClr val="dk1"/>
                </a:solidFill>
                <a:latin typeface="Calibri"/>
                <a:ea typeface="Calibri"/>
                <a:cs typeface="Calibri"/>
                <a:sym typeface="Calibri"/>
              </a:rPr>
              <a:t>HOME PAGE</a:t>
            </a:r>
            <a:endParaRPr i="0" sz="1200" u="none" cap="none" strike="noStrike">
              <a:solidFill>
                <a:schemeClr val="dk1"/>
              </a:solidFill>
              <a:latin typeface="Calibri"/>
              <a:ea typeface="Calibri"/>
              <a:cs typeface="Calibri"/>
              <a:sym typeface="Calibri"/>
            </a:endParaRPr>
          </a:p>
        </p:txBody>
      </p:sp>
      <p:sp>
        <p:nvSpPr>
          <p:cNvPr id="256" name="Google Shape;256;p32"/>
          <p:cNvSpPr txBox="1"/>
          <p:nvPr/>
        </p:nvSpPr>
        <p:spPr>
          <a:xfrm>
            <a:off x="4373100" y="4052250"/>
            <a:ext cx="1092600" cy="589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AI INTEGRATION</a:t>
            </a:r>
            <a:endParaRPr i="0" sz="1100" u="none" cap="none" strike="noStrike">
              <a:solidFill>
                <a:schemeClr val="dk1"/>
              </a:solidFill>
              <a:latin typeface="Calibri"/>
              <a:ea typeface="Calibri"/>
              <a:cs typeface="Calibri"/>
              <a:sym typeface="Calibri"/>
            </a:endParaRPr>
          </a:p>
        </p:txBody>
      </p:sp>
      <p:cxnSp>
        <p:nvCxnSpPr>
          <p:cNvPr id="257" name="Google Shape;257;p32"/>
          <p:cNvCxnSpPr>
            <a:stCxn id="255" idx="3"/>
          </p:cNvCxnSpPr>
          <p:nvPr/>
        </p:nvCxnSpPr>
        <p:spPr>
          <a:xfrm>
            <a:off x="4980250" y="2158275"/>
            <a:ext cx="443400" cy="2400"/>
          </a:xfrm>
          <a:prstGeom prst="straightConnector1">
            <a:avLst/>
          </a:prstGeom>
          <a:noFill/>
          <a:ln cap="flat" cmpd="sng" w="9525">
            <a:solidFill>
              <a:schemeClr val="dk2"/>
            </a:solidFill>
            <a:prstDash val="solid"/>
            <a:round/>
            <a:headEnd len="med" w="med" type="none"/>
            <a:tailEnd len="med" w="med" type="stealth"/>
          </a:ln>
        </p:spPr>
      </p:cxnSp>
      <p:sp>
        <p:nvSpPr>
          <p:cNvPr id="258" name="Google Shape;258;p32"/>
          <p:cNvSpPr txBox="1"/>
          <p:nvPr/>
        </p:nvSpPr>
        <p:spPr>
          <a:xfrm>
            <a:off x="5391850" y="1979025"/>
            <a:ext cx="8778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LEARNING CENTER</a:t>
            </a:r>
            <a:endParaRPr sz="1300">
              <a:solidFill>
                <a:schemeClr val="dk1"/>
              </a:solidFill>
              <a:latin typeface="Calibri"/>
              <a:ea typeface="Calibri"/>
              <a:cs typeface="Calibri"/>
              <a:sym typeface="Calibri"/>
            </a:endParaRPr>
          </a:p>
        </p:txBody>
      </p:sp>
      <p:sp>
        <p:nvSpPr>
          <p:cNvPr id="259" name="Google Shape;259;p32"/>
          <p:cNvSpPr txBox="1"/>
          <p:nvPr/>
        </p:nvSpPr>
        <p:spPr>
          <a:xfrm>
            <a:off x="6449450" y="1979603"/>
            <a:ext cx="9363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CATEGORIES PAGE</a:t>
            </a:r>
            <a:endParaRPr sz="1300">
              <a:solidFill>
                <a:schemeClr val="dk1"/>
              </a:solidFill>
              <a:latin typeface="Calibri"/>
              <a:ea typeface="Calibri"/>
              <a:cs typeface="Calibri"/>
              <a:sym typeface="Calibri"/>
            </a:endParaRPr>
          </a:p>
        </p:txBody>
      </p:sp>
      <p:sp>
        <p:nvSpPr>
          <p:cNvPr id="260" name="Google Shape;260;p32"/>
          <p:cNvSpPr txBox="1"/>
          <p:nvPr/>
        </p:nvSpPr>
        <p:spPr>
          <a:xfrm>
            <a:off x="7516950" y="2011410"/>
            <a:ext cx="657600" cy="3231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900">
                <a:solidFill>
                  <a:schemeClr val="dk1"/>
                </a:solidFill>
                <a:latin typeface="Calibri"/>
                <a:ea typeface="Calibri"/>
                <a:cs typeface="Calibri"/>
                <a:sym typeface="Calibri"/>
              </a:rPr>
              <a:t>ARTICLES</a:t>
            </a:r>
            <a:endParaRPr sz="1100">
              <a:solidFill>
                <a:schemeClr val="dk1"/>
              </a:solidFill>
              <a:latin typeface="Calibri"/>
              <a:ea typeface="Calibri"/>
              <a:cs typeface="Calibri"/>
              <a:sym typeface="Calibri"/>
            </a:endParaRPr>
          </a:p>
        </p:txBody>
      </p:sp>
      <p:cxnSp>
        <p:nvCxnSpPr>
          <p:cNvPr id="261" name="Google Shape;261;p32"/>
          <p:cNvCxnSpPr>
            <a:stCxn id="258" idx="3"/>
            <a:endCxn id="259" idx="1"/>
          </p:cNvCxnSpPr>
          <p:nvPr/>
        </p:nvCxnSpPr>
        <p:spPr>
          <a:xfrm>
            <a:off x="6269650" y="2240625"/>
            <a:ext cx="179700" cy="600"/>
          </a:xfrm>
          <a:prstGeom prst="straightConnector1">
            <a:avLst/>
          </a:prstGeom>
          <a:noFill/>
          <a:ln cap="flat" cmpd="sng" w="9525">
            <a:solidFill>
              <a:schemeClr val="dk2"/>
            </a:solidFill>
            <a:prstDash val="solid"/>
            <a:round/>
            <a:headEnd len="med" w="med" type="none"/>
            <a:tailEnd len="med" w="med" type="stealth"/>
          </a:ln>
        </p:spPr>
      </p:cxnSp>
      <p:cxnSp>
        <p:nvCxnSpPr>
          <p:cNvPr id="262" name="Google Shape;262;p32"/>
          <p:cNvCxnSpPr>
            <a:stCxn id="259" idx="3"/>
            <a:endCxn id="260" idx="1"/>
          </p:cNvCxnSpPr>
          <p:nvPr/>
        </p:nvCxnSpPr>
        <p:spPr>
          <a:xfrm flipH="1" rot="10800000">
            <a:off x="7385750" y="2173103"/>
            <a:ext cx="131100" cy="68100"/>
          </a:xfrm>
          <a:prstGeom prst="straightConnector1">
            <a:avLst/>
          </a:prstGeom>
          <a:noFill/>
          <a:ln cap="flat" cmpd="sng" w="9525">
            <a:solidFill>
              <a:schemeClr val="dk2"/>
            </a:solidFill>
            <a:prstDash val="solid"/>
            <a:round/>
            <a:headEnd len="med" w="med" type="none"/>
            <a:tailEnd len="med" w="med" type="stealth"/>
          </a:ln>
        </p:spPr>
      </p:cxnSp>
      <p:cxnSp>
        <p:nvCxnSpPr>
          <p:cNvPr id="263" name="Google Shape;263;p32"/>
          <p:cNvCxnSpPr>
            <a:endCxn id="264" idx="1"/>
          </p:cNvCxnSpPr>
          <p:nvPr/>
        </p:nvCxnSpPr>
        <p:spPr>
          <a:xfrm flipH="1" rot="10800000">
            <a:off x="4167200" y="2878938"/>
            <a:ext cx="2845200" cy="12300"/>
          </a:xfrm>
          <a:prstGeom prst="straightConnector1">
            <a:avLst/>
          </a:prstGeom>
          <a:noFill/>
          <a:ln cap="flat" cmpd="sng" w="9525">
            <a:solidFill>
              <a:schemeClr val="dk2"/>
            </a:solidFill>
            <a:prstDash val="solid"/>
            <a:round/>
            <a:headEnd len="med" w="med" type="none"/>
            <a:tailEnd len="med" w="med" type="stealth"/>
          </a:ln>
        </p:spPr>
      </p:cxnSp>
      <p:sp>
        <p:nvSpPr>
          <p:cNvPr id="264" name="Google Shape;264;p32"/>
          <p:cNvSpPr txBox="1"/>
          <p:nvPr/>
        </p:nvSpPr>
        <p:spPr>
          <a:xfrm>
            <a:off x="7012400" y="2701938"/>
            <a:ext cx="877800" cy="3540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SETTINGS</a:t>
            </a:r>
            <a:endParaRPr sz="1100">
              <a:solidFill>
                <a:schemeClr val="dk1"/>
              </a:solidFill>
              <a:latin typeface="Calibri"/>
              <a:ea typeface="Calibri"/>
              <a:cs typeface="Calibri"/>
              <a:sym typeface="Calibri"/>
            </a:endParaRPr>
          </a:p>
        </p:txBody>
      </p:sp>
      <p:cxnSp>
        <p:nvCxnSpPr>
          <p:cNvPr id="265" name="Google Shape;265;p32"/>
          <p:cNvCxnSpPr>
            <a:endCxn id="266" idx="1"/>
          </p:cNvCxnSpPr>
          <p:nvPr/>
        </p:nvCxnSpPr>
        <p:spPr>
          <a:xfrm flipH="1" rot="10800000">
            <a:off x="4147800" y="3513188"/>
            <a:ext cx="3858300" cy="20400"/>
          </a:xfrm>
          <a:prstGeom prst="straightConnector1">
            <a:avLst/>
          </a:prstGeom>
          <a:noFill/>
          <a:ln cap="flat" cmpd="sng" w="9525">
            <a:solidFill>
              <a:schemeClr val="dk2"/>
            </a:solidFill>
            <a:prstDash val="solid"/>
            <a:round/>
            <a:headEnd len="med" w="med" type="none"/>
            <a:tailEnd len="med" w="med" type="stealth"/>
          </a:ln>
        </p:spPr>
      </p:cxnSp>
      <p:sp>
        <p:nvSpPr>
          <p:cNvPr id="266" name="Google Shape;266;p32"/>
          <p:cNvSpPr txBox="1"/>
          <p:nvPr/>
        </p:nvSpPr>
        <p:spPr>
          <a:xfrm>
            <a:off x="8006100" y="3336188"/>
            <a:ext cx="657600" cy="3540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PROFILE</a:t>
            </a:r>
            <a:endParaRPr sz="1100">
              <a:solidFill>
                <a:schemeClr val="dk1"/>
              </a:solidFill>
              <a:latin typeface="Calibri"/>
              <a:ea typeface="Calibri"/>
              <a:cs typeface="Calibri"/>
              <a:sym typeface="Calibri"/>
            </a:endParaRPr>
          </a:p>
        </p:txBody>
      </p:sp>
      <p:sp>
        <p:nvSpPr>
          <p:cNvPr id="267" name="Google Shape;267;p32"/>
          <p:cNvSpPr txBox="1"/>
          <p:nvPr/>
        </p:nvSpPr>
        <p:spPr>
          <a:xfrm>
            <a:off x="5674450" y="4113725"/>
            <a:ext cx="760800" cy="3387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000">
                <a:solidFill>
                  <a:schemeClr val="dk1"/>
                </a:solidFill>
                <a:latin typeface="Calibri"/>
                <a:ea typeface="Calibri"/>
                <a:cs typeface="Calibri"/>
                <a:sym typeface="Calibri"/>
              </a:rPr>
              <a:t>CHATBOT</a:t>
            </a:r>
            <a:endParaRPr sz="1200">
              <a:solidFill>
                <a:schemeClr val="dk1"/>
              </a:solidFill>
              <a:latin typeface="Calibri"/>
              <a:ea typeface="Calibri"/>
              <a:cs typeface="Calibri"/>
              <a:sym typeface="Calibri"/>
            </a:endParaRPr>
          </a:p>
        </p:txBody>
      </p:sp>
      <p:sp>
        <p:nvSpPr>
          <p:cNvPr id="268" name="Google Shape;268;p32"/>
          <p:cNvSpPr txBox="1"/>
          <p:nvPr/>
        </p:nvSpPr>
        <p:spPr>
          <a:xfrm>
            <a:off x="6644010" y="3933178"/>
            <a:ext cx="936300" cy="6927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GOLD RATE &amp; SILVER RATE</a:t>
            </a:r>
            <a:endParaRPr sz="1300">
              <a:solidFill>
                <a:schemeClr val="dk1"/>
              </a:solidFill>
              <a:latin typeface="Calibri"/>
              <a:ea typeface="Calibri"/>
              <a:cs typeface="Calibri"/>
              <a:sym typeface="Calibri"/>
            </a:endParaRPr>
          </a:p>
        </p:txBody>
      </p:sp>
      <p:sp>
        <p:nvSpPr>
          <p:cNvPr id="269" name="Google Shape;269;p32"/>
          <p:cNvSpPr txBox="1"/>
          <p:nvPr/>
        </p:nvSpPr>
        <p:spPr>
          <a:xfrm>
            <a:off x="7994488" y="4014258"/>
            <a:ext cx="9363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GOAL TRACKER</a:t>
            </a:r>
            <a:endParaRPr sz="1100">
              <a:solidFill>
                <a:schemeClr val="dk1"/>
              </a:solidFill>
              <a:latin typeface="Calibri"/>
              <a:ea typeface="Calibri"/>
              <a:cs typeface="Calibri"/>
              <a:sym typeface="Calibri"/>
            </a:endParaRPr>
          </a:p>
        </p:txBody>
      </p:sp>
      <p:cxnSp>
        <p:nvCxnSpPr>
          <p:cNvPr id="270" name="Google Shape;270;p32"/>
          <p:cNvCxnSpPr>
            <a:stCxn id="267" idx="3"/>
            <a:endCxn id="268" idx="1"/>
          </p:cNvCxnSpPr>
          <p:nvPr/>
        </p:nvCxnSpPr>
        <p:spPr>
          <a:xfrm flipH="1" rot="10800000">
            <a:off x="6435250" y="4279475"/>
            <a:ext cx="208800" cy="3600"/>
          </a:xfrm>
          <a:prstGeom prst="straightConnector1">
            <a:avLst/>
          </a:prstGeom>
          <a:noFill/>
          <a:ln cap="flat" cmpd="sng" w="9525">
            <a:solidFill>
              <a:schemeClr val="dk2"/>
            </a:solidFill>
            <a:prstDash val="solid"/>
            <a:round/>
            <a:headEnd len="med" w="med" type="none"/>
            <a:tailEnd len="med" w="med" type="stealth"/>
          </a:ln>
        </p:spPr>
      </p:cxnSp>
      <p:cxnSp>
        <p:nvCxnSpPr>
          <p:cNvPr id="271" name="Google Shape;271;p32"/>
          <p:cNvCxnSpPr>
            <a:stCxn id="268" idx="3"/>
            <a:endCxn id="269" idx="1"/>
          </p:cNvCxnSpPr>
          <p:nvPr/>
        </p:nvCxnSpPr>
        <p:spPr>
          <a:xfrm flipH="1" rot="10800000">
            <a:off x="7580310" y="4275928"/>
            <a:ext cx="414300" cy="3600"/>
          </a:xfrm>
          <a:prstGeom prst="straightConnector1">
            <a:avLst/>
          </a:prstGeom>
          <a:noFill/>
          <a:ln cap="flat" cmpd="sng" w="9525">
            <a:solidFill>
              <a:schemeClr val="dk2"/>
            </a:solidFill>
            <a:prstDash val="solid"/>
            <a:round/>
            <a:headEnd len="med" w="med" type="none"/>
            <a:tailEnd len="med" w="med" type="stealth"/>
          </a:ln>
        </p:spPr>
      </p:cxnSp>
      <p:cxnSp>
        <p:nvCxnSpPr>
          <p:cNvPr id="272" name="Google Shape;272;p32"/>
          <p:cNvCxnSpPr>
            <a:endCxn id="267" idx="1"/>
          </p:cNvCxnSpPr>
          <p:nvPr/>
        </p:nvCxnSpPr>
        <p:spPr>
          <a:xfrm flipH="1" rot="10800000">
            <a:off x="5465650" y="4283075"/>
            <a:ext cx="208800" cy="4500"/>
          </a:xfrm>
          <a:prstGeom prst="straightConnector1">
            <a:avLst/>
          </a:prstGeom>
          <a:noFill/>
          <a:ln cap="flat" cmpd="sng" w="9525">
            <a:solidFill>
              <a:schemeClr val="dk2"/>
            </a:solidFill>
            <a:prstDash val="solid"/>
            <a:round/>
            <a:headEnd len="med" w="med" type="none"/>
            <a:tailEnd len="med" w="med" type="stealth"/>
          </a:ln>
        </p:spPr>
      </p:cxnSp>
      <p:cxnSp>
        <p:nvCxnSpPr>
          <p:cNvPr id="273" name="Google Shape;273;p32"/>
          <p:cNvCxnSpPr/>
          <p:nvPr/>
        </p:nvCxnSpPr>
        <p:spPr>
          <a:xfrm>
            <a:off x="4154375" y="2354113"/>
            <a:ext cx="2100" cy="2017200"/>
          </a:xfrm>
          <a:prstGeom prst="straightConnector1">
            <a:avLst/>
          </a:prstGeom>
          <a:noFill/>
          <a:ln cap="flat" cmpd="sng" w="9525">
            <a:solidFill>
              <a:schemeClr val="dk2"/>
            </a:solidFill>
            <a:prstDash val="solid"/>
            <a:round/>
            <a:headEnd len="med" w="med" type="none"/>
            <a:tailEnd len="med" w="med" type="none"/>
          </a:ln>
        </p:spPr>
      </p:cxnSp>
      <p:cxnSp>
        <p:nvCxnSpPr>
          <p:cNvPr id="274" name="Google Shape;274;p32"/>
          <p:cNvCxnSpPr>
            <a:endCxn id="256" idx="1"/>
          </p:cNvCxnSpPr>
          <p:nvPr/>
        </p:nvCxnSpPr>
        <p:spPr>
          <a:xfrm>
            <a:off x="4156500" y="4342350"/>
            <a:ext cx="216600" cy="4500"/>
          </a:xfrm>
          <a:prstGeom prst="straightConnector1">
            <a:avLst/>
          </a:prstGeom>
          <a:noFill/>
          <a:ln cap="flat" cmpd="sng" w="9525">
            <a:solidFill>
              <a:schemeClr val="dk2"/>
            </a:solidFill>
            <a:prstDash val="solid"/>
            <a:round/>
            <a:headEnd len="med" w="med" type="none"/>
            <a:tailEnd len="med" w="med" type="stealth"/>
          </a:ln>
        </p:spPr>
      </p:cxnSp>
      <p:cxnSp>
        <p:nvCxnSpPr>
          <p:cNvPr id="275" name="Google Shape;275;p32"/>
          <p:cNvCxnSpPr/>
          <p:nvPr/>
        </p:nvCxnSpPr>
        <p:spPr>
          <a:xfrm flipH="1" rot="10800000">
            <a:off x="4154375" y="1366138"/>
            <a:ext cx="1256700" cy="589200"/>
          </a:xfrm>
          <a:prstGeom prst="bentConnector3">
            <a:avLst>
              <a:gd fmla="val 503" name="adj1"/>
            </a:avLst>
          </a:prstGeom>
          <a:noFill/>
          <a:ln cap="flat" cmpd="sng" w="9525">
            <a:solidFill>
              <a:schemeClr val="dk2"/>
            </a:solidFill>
            <a:prstDash val="solid"/>
            <a:round/>
            <a:headEnd len="sm" w="sm" type="none"/>
            <a:tailEnd len="sm" w="sm" type="stealth"/>
          </a:ln>
        </p:spPr>
      </p:cxnSp>
      <p:sp>
        <p:nvSpPr>
          <p:cNvPr id="276" name="Google Shape;276;p32"/>
          <p:cNvSpPr txBox="1"/>
          <p:nvPr/>
        </p:nvSpPr>
        <p:spPr>
          <a:xfrm>
            <a:off x="5410975" y="1117377"/>
            <a:ext cx="9948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FINANCIAL TOOLS</a:t>
            </a:r>
            <a:endParaRPr sz="1300">
              <a:solidFill>
                <a:schemeClr val="dk1"/>
              </a:solidFill>
              <a:latin typeface="Calibri"/>
              <a:ea typeface="Calibri"/>
              <a:cs typeface="Calibri"/>
              <a:sym typeface="Calibri"/>
            </a:endParaRPr>
          </a:p>
        </p:txBody>
      </p:sp>
      <p:sp>
        <p:nvSpPr>
          <p:cNvPr id="277" name="Google Shape;277;p32"/>
          <p:cNvSpPr txBox="1"/>
          <p:nvPr/>
        </p:nvSpPr>
        <p:spPr>
          <a:xfrm>
            <a:off x="6630665" y="1119603"/>
            <a:ext cx="9363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EMI CALCULATOR</a:t>
            </a:r>
            <a:endParaRPr sz="1300">
              <a:solidFill>
                <a:schemeClr val="dk1"/>
              </a:solidFill>
              <a:latin typeface="Calibri"/>
              <a:ea typeface="Calibri"/>
              <a:cs typeface="Calibri"/>
              <a:sym typeface="Calibri"/>
            </a:endParaRPr>
          </a:p>
        </p:txBody>
      </p:sp>
      <p:sp>
        <p:nvSpPr>
          <p:cNvPr id="278" name="Google Shape;278;p32"/>
          <p:cNvSpPr txBox="1"/>
          <p:nvPr/>
        </p:nvSpPr>
        <p:spPr>
          <a:xfrm>
            <a:off x="7698165" y="1119013"/>
            <a:ext cx="9948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SIP CALCULTOR</a:t>
            </a:r>
            <a:endParaRPr sz="1300">
              <a:solidFill>
                <a:schemeClr val="dk1"/>
              </a:solidFill>
              <a:latin typeface="Calibri"/>
              <a:ea typeface="Calibri"/>
              <a:cs typeface="Calibri"/>
              <a:sym typeface="Calibri"/>
            </a:endParaRPr>
          </a:p>
        </p:txBody>
      </p:sp>
      <p:cxnSp>
        <p:nvCxnSpPr>
          <p:cNvPr id="279" name="Google Shape;279;p32"/>
          <p:cNvCxnSpPr>
            <a:stCxn id="276" idx="3"/>
            <a:endCxn id="277" idx="1"/>
          </p:cNvCxnSpPr>
          <p:nvPr/>
        </p:nvCxnSpPr>
        <p:spPr>
          <a:xfrm>
            <a:off x="6405775" y="1378977"/>
            <a:ext cx="225000" cy="2100"/>
          </a:xfrm>
          <a:prstGeom prst="straightConnector1">
            <a:avLst/>
          </a:prstGeom>
          <a:noFill/>
          <a:ln cap="flat" cmpd="sng" w="9525">
            <a:solidFill>
              <a:schemeClr val="dk2"/>
            </a:solidFill>
            <a:prstDash val="solid"/>
            <a:round/>
            <a:headEnd len="med" w="med" type="none"/>
            <a:tailEnd len="med" w="med" type="stealth"/>
          </a:ln>
        </p:spPr>
      </p:cxnSp>
      <p:cxnSp>
        <p:nvCxnSpPr>
          <p:cNvPr id="280" name="Google Shape;280;p32"/>
          <p:cNvCxnSpPr>
            <a:stCxn id="277" idx="3"/>
            <a:endCxn id="278" idx="1"/>
          </p:cNvCxnSpPr>
          <p:nvPr/>
        </p:nvCxnSpPr>
        <p:spPr>
          <a:xfrm flipH="1" rot="10800000">
            <a:off x="7566965" y="1380603"/>
            <a:ext cx="131100" cy="600"/>
          </a:xfrm>
          <a:prstGeom prst="straightConnector1">
            <a:avLst/>
          </a:prstGeom>
          <a:noFill/>
          <a:ln cap="flat" cmpd="sng" w="9525">
            <a:solidFill>
              <a:schemeClr val="dk2"/>
            </a:solidFill>
            <a:prstDash val="solid"/>
            <a:round/>
            <a:headEnd len="med" w="med" type="none"/>
            <a:tailEnd len="med" w="med" type="stealth"/>
          </a:ln>
        </p:spPr>
      </p:cxnSp>
      <p:sp>
        <p:nvSpPr>
          <p:cNvPr id="281" name="Google Shape;281;p32"/>
          <p:cNvSpPr txBox="1"/>
          <p:nvPr/>
        </p:nvSpPr>
        <p:spPr>
          <a:xfrm>
            <a:off x="8305750" y="1979013"/>
            <a:ext cx="737400" cy="5232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DAILY TIPS</a:t>
            </a:r>
            <a:endParaRPr sz="1300">
              <a:solidFill>
                <a:schemeClr val="dk1"/>
              </a:solidFill>
              <a:latin typeface="Calibri"/>
              <a:ea typeface="Calibri"/>
              <a:cs typeface="Calibri"/>
              <a:sym typeface="Calibri"/>
            </a:endParaRPr>
          </a:p>
        </p:txBody>
      </p:sp>
      <p:cxnSp>
        <p:nvCxnSpPr>
          <p:cNvPr id="282" name="Google Shape;282;p32"/>
          <p:cNvCxnSpPr>
            <a:endCxn id="281" idx="1"/>
          </p:cNvCxnSpPr>
          <p:nvPr/>
        </p:nvCxnSpPr>
        <p:spPr>
          <a:xfrm flipH="1" rot="10800000">
            <a:off x="8174650" y="2240613"/>
            <a:ext cx="131100" cy="600"/>
          </a:xfrm>
          <a:prstGeom prst="straightConnector1">
            <a:avLst/>
          </a:prstGeom>
          <a:noFill/>
          <a:ln cap="flat" cmpd="sng" w="9525">
            <a:solidFill>
              <a:schemeClr val="dk2"/>
            </a:solidFill>
            <a:prstDash val="solid"/>
            <a:round/>
            <a:headEnd len="med" w="med" type="none"/>
            <a:tailEnd len="med" w="med" type="stealth"/>
          </a:ln>
        </p:spPr>
      </p:cxnSp>
      <p:cxnSp>
        <p:nvCxnSpPr>
          <p:cNvPr id="283" name="Google Shape;283;p32"/>
          <p:cNvCxnSpPr>
            <a:stCxn id="248" idx="3"/>
            <a:endCxn id="255" idx="1"/>
          </p:cNvCxnSpPr>
          <p:nvPr/>
        </p:nvCxnSpPr>
        <p:spPr>
          <a:xfrm flipH="1" rot="10800000">
            <a:off x="3697050" y="2158293"/>
            <a:ext cx="256500" cy="2400"/>
          </a:xfrm>
          <a:prstGeom prst="straightConnector1">
            <a:avLst/>
          </a:prstGeom>
          <a:noFill/>
          <a:ln cap="flat" cmpd="sng" w="9525">
            <a:solidFill>
              <a:schemeClr val="dk2"/>
            </a:solidFill>
            <a:prstDash val="solid"/>
            <a:round/>
            <a:headEnd len="med" w="med" type="none"/>
            <a:tailEnd len="med" w="med" type="triangle"/>
          </a:ln>
        </p:spPr>
      </p:cxnSp>
      <p:sp>
        <p:nvSpPr>
          <p:cNvPr id="284" name="Google Shape;284;p32"/>
          <p:cNvSpPr txBox="1"/>
          <p:nvPr/>
        </p:nvSpPr>
        <p:spPr>
          <a:xfrm>
            <a:off x="8052500" y="2701938"/>
            <a:ext cx="877800" cy="3540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en" sz="1100">
                <a:solidFill>
                  <a:schemeClr val="dk1"/>
                </a:solidFill>
                <a:latin typeface="Calibri"/>
                <a:ea typeface="Calibri"/>
                <a:cs typeface="Calibri"/>
                <a:sym typeface="Calibri"/>
              </a:rPr>
              <a:t>LOG OUT</a:t>
            </a:r>
            <a:endParaRPr sz="1100">
              <a:solidFill>
                <a:schemeClr val="dk1"/>
              </a:solidFill>
              <a:latin typeface="Calibri"/>
              <a:ea typeface="Calibri"/>
              <a:cs typeface="Calibri"/>
              <a:sym typeface="Calibri"/>
            </a:endParaRPr>
          </a:p>
        </p:txBody>
      </p:sp>
      <p:cxnSp>
        <p:nvCxnSpPr>
          <p:cNvPr id="285" name="Google Shape;285;p32"/>
          <p:cNvCxnSpPr>
            <a:stCxn id="264" idx="3"/>
            <a:endCxn id="284" idx="1"/>
          </p:cNvCxnSpPr>
          <p:nvPr/>
        </p:nvCxnSpPr>
        <p:spPr>
          <a:xfrm>
            <a:off x="7890200" y="2878938"/>
            <a:ext cx="162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txBox="1"/>
          <p:nvPr>
            <p:ph type="title"/>
          </p:nvPr>
        </p:nvSpPr>
        <p:spPr>
          <a:xfrm>
            <a:off x="1297500" y="393750"/>
            <a:ext cx="7038900" cy="75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b="1" lang="en">
                <a:latin typeface="Maven Pro"/>
                <a:ea typeface="Maven Pro"/>
                <a:cs typeface="Maven Pro"/>
                <a:sym typeface="Maven Pro"/>
              </a:rPr>
              <a:t>MOCKUPS LOW FIDELITY-(CONVERGENCE)</a:t>
            </a:r>
            <a:endParaRPr/>
          </a:p>
        </p:txBody>
      </p:sp>
      <p:pic>
        <p:nvPicPr>
          <p:cNvPr id="291" name="Google Shape;291;p33"/>
          <p:cNvPicPr preferRelativeResize="0"/>
          <p:nvPr/>
        </p:nvPicPr>
        <p:blipFill>
          <a:blip r:embed="rId3">
            <a:alphaModFix/>
          </a:blip>
          <a:stretch>
            <a:fillRect/>
          </a:stretch>
        </p:blipFill>
        <p:spPr>
          <a:xfrm>
            <a:off x="272400" y="1015900"/>
            <a:ext cx="1807425" cy="4020425"/>
          </a:xfrm>
          <a:prstGeom prst="rect">
            <a:avLst/>
          </a:prstGeom>
          <a:noFill/>
          <a:ln>
            <a:noFill/>
          </a:ln>
        </p:spPr>
      </p:pic>
      <p:pic>
        <p:nvPicPr>
          <p:cNvPr id="292" name="Google Shape;292;p33"/>
          <p:cNvPicPr preferRelativeResize="0"/>
          <p:nvPr/>
        </p:nvPicPr>
        <p:blipFill>
          <a:blip r:embed="rId4">
            <a:alphaModFix/>
          </a:blip>
          <a:stretch>
            <a:fillRect/>
          </a:stretch>
        </p:blipFill>
        <p:spPr>
          <a:xfrm>
            <a:off x="2214675" y="1015900"/>
            <a:ext cx="1575289" cy="4020425"/>
          </a:xfrm>
          <a:prstGeom prst="rect">
            <a:avLst/>
          </a:prstGeom>
          <a:noFill/>
          <a:ln>
            <a:noFill/>
          </a:ln>
        </p:spPr>
      </p:pic>
      <p:pic>
        <p:nvPicPr>
          <p:cNvPr id="293" name="Google Shape;293;p33"/>
          <p:cNvPicPr preferRelativeResize="0"/>
          <p:nvPr/>
        </p:nvPicPr>
        <p:blipFill rotWithShape="1">
          <a:blip r:embed="rId5">
            <a:alphaModFix/>
          </a:blip>
          <a:srcRect b="8867" l="7448" r="7533" t="1567"/>
          <a:stretch/>
        </p:blipFill>
        <p:spPr>
          <a:xfrm>
            <a:off x="3990575" y="1015900"/>
            <a:ext cx="1499776" cy="4082299"/>
          </a:xfrm>
          <a:prstGeom prst="rect">
            <a:avLst/>
          </a:prstGeom>
          <a:noFill/>
          <a:ln>
            <a:noFill/>
          </a:ln>
        </p:spPr>
      </p:pic>
      <p:pic>
        <p:nvPicPr>
          <p:cNvPr id="294" name="Google Shape;294;p33"/>
          <p:cNvPicPr preferRelativeResize="0"/>
          <p:nvPr/>
        </p:nvPicPr>
        <p:blipFill>
          <a:blip r:embed="rId6">
            <a:alphaModFix/>
          </a:blip>
          <a:stretch>
            <a:fillRect/>
          </a:stretch>
        </p:blipFill>
        <p:spPr>
          <a:xfrm>
            <a:off x="5690950" y="1015901"/>
            <a:ext cx="1575300" cy="4082299"/>
          </a:xfrm>
          <a:prstGeom prst="rect">
            <a:avLst/>
          </a:prstGeom>
          <a:noFill/>
          <a:ln>
            <a:noFill/>
          </a:ln>
        </p:spPr>
      </p:pic>
      <p:pic>
        <p:nvPicPr>
          <p:cNvPr id="295" name="Google Shape;295;p33"/>
          <p:cNvPicPr preferRelativeResize="0"/>
          <p:nvPr/>
        </p:nvPicPr>
        <p:blipFill>
          <a:blip r:embed="rId7">
            <a:alphaModFix/>
          </a:blip>
          <a:stretch>
            <a:fillRect/>
          </a:stretch>
        </p:blipFill>
        <p:spPr>
          <a:xfrm>
            <a:off x="7466850" y="1000438"/>
            <a:ext cx="1459950" cy="41127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type="title"/>
          </p:nvPr>
        </p:nvSpPr>
        <p:spPr>
          <a:xfrm>
            <a:off x="1249875" y="212775"/>
            <a:ext cx="7038900" cy="6645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74074"/>
              <a:buNone/>
            </a:pPr>
            <a:r>
              <a:rPr b="1" lang="en" sz="3600">
                <a:latin typeface="Maven Pro"/>
                <a:ea typeface="Maven Pro"/>
                <a:cs typeface="Maven Pro"/>
                <a:sym typeface="Maven Pro"/>
              </a:rPr>
              <a:t>USABILITY STUDIES</a:t>
            </a:r>
            <a:endParaRPr sz="3500"/>
          </a:p>
        </p:txBody>
      </p:sp>
      <p:sp>
        <p:nvSpPr>
          <p:cNvPr id="301" name="Google Shape;301;p34"/>
          <p:cNvSpPr txBox="1"/>
          <p:nvPr/>
        </p:nvSpPr>
        <p:spPr>
          <a:xfrm>
            <a:off x="166750" y="876750"/>
            <a:ext cx="4294800" cy="32364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400"/>
              </a:spcBef>
              <a:spcAft>
                <a:spcPts val="0"/>
              </a:spcAft>
              <a:buClr>
                <a:srgbClr val="000000"/>
              </a:buClr>
              <a:buSzPts val="1300"/>
              <a:buFont typeface="Arial"/>
              <a:buNone/>
            </a:pPr>
            <a:r>
              <a:rPr b="1" i="0" lang="en" sz="1300" u="none" cap="none" strike="noStrike">
                <a:solidFill>
                  <a:schemeClr val="dk1"/>
                </a:solidFill>
                <a:latin typeface="Arial"/>
                <a:ea typeface="Arial"/>
                <a:cs typeface="Arial"/>
                <a:sym typeface="Arial"/>
              </a:rPr>
              <a:t>Round 01 – </a:t>
            </a:r>
            <a:r>
              <a:rPr b="1" lang="en" sz="1300">
                <a:solidFill>
                  <a:schemeClr val="dk1"/>
                </a:solidFill>
              </a:rPr>
              <a:t>Financial Guidance Clarity Issues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Early testers felt overwhelmed because the AI chatbot sometimes provided too much financial information at once.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Users struggled to identify the main actionable step—whether to invest, save more, reduce expenses, or adjust risk levels.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Mixing financial terms (e.g., CAGR, expense ratio, capital gains) with explanations on the same screen confused beginner users.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First-time users were unsure whether to focus on learning modules, tools, or chatbot suggestions.</a:t>
            </a:r>
            <a:endParaRPr sz="1100">
              <a:solidFill>
                <a:schemeClr val="dk1"/>
              </a:solidFill>
            </a:endParaRPr>
          </a:p>
          <a:p>
            <a:pPr indent="0" lvl="0" marL="457200" rtl="0" algn="l">
              <a:lnSpc>
                <a:spcPct val="115000"/>
              </a:lnSpc>
              <a:spcBef>
                <a:spcPts val="1200"/>
              </a:spcBef>
              <a:spcAft>
                <a:spcPts val="0"/>
              </a:spcAft>
              <a:buNone/>
            </a:pPr>
            <a:r>
              <a:rPr b="1" lang="en" sz="1100">
                <a:solidFill>
                  <a:schemeClr val="dk1"/>
                </a:solidFill>
              </a:rPr>
              <a:t>Recommendation:</a:t>
            </a:r>
            <a:br>
              <a:rPr b="1" lang="en" sz="1100">
                <a:solidFill>
                  <a:schemeClr val="dk1"/>
                </a:solidFill>
              </a:rPr>
            </a:br>
            <a:r>
              <a:rPr lang="en" sz="1100">
                <a:solidFill>
                  <a:schemeClr val="dk1"/>
                </a:solidFill>
              </a:rPr>
              <a:t>Simplify the chatbot output by prioritizing the main actionable guidance first (e.g., “Recommended Action: Invest ₹5,000 monthly in SIP”), followed by expandable sections such as explanation, risk analysis, and alternative options under collapsible menus to reduce cognitive overload.</a:t>
            </a:r>
            <a:endParaRPr sz="1100">
              <a:solidFill>
                <a:schemeClr val="dk1"/>
              </a:solidFill>
            </a:endParaRPr>
          </a:p>
          <a:p>
            <a:pPr indent="0" lvl="0" marL="457200" marR="0" rtl="0" algn="just">
              <a:lnSpc>
                <a:spcPct val="115000"/>
              </a:lnSpc>
              <a:spcBef>
                <a:spcPts val="1400"/>
              </a:spcBef>
              <a:spcAft>
                <a:spcPts val="0"/>
              </a:spcAft>
              <a:buNone/>
            </a:pPr>
            <a:r>
              <a:t/>
            </a:r>
            <a:endParaRPr sz="1100">
              <a:solidFill>
                <a:schemeClr val="dk1"/>
              </a:solidFill>
            </a:endParaRPr>
          </a:p>
        </p:txBody>
      </p:sp>
      <p:sp>
        <p:nvSpPr>
          <p:cNvPr id="302" name="Google Shape;302;p34"/>
          <p:cNvSpPr txBox="1"/>
          <p:nvPr/>
        </p:nvSpPr>
        <p:spPr>
          <a:xfrm>
            <a:off x="4572000" y="924900"/>
            <a:ext cx="4186500" cy="28734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400"/>
              </a:spcBef>
              <a:spcAft>
                <a:spcPts val="0"/>
              </a:spcAft>
              <a:buClr>
                <a:srgbClr val="000000"/>
              </a:buClr>
              <a:buSzPts val="1300"/>
              <a:buFont typeface="Arial"/>
              <a:buNone/>
            </a:pPr>
            <a:r>
              <a:rPr b="1" i="0" lang="en" sz="1300" u="none" cap="none" strike="noStrike">
                <a:solidFill>
                  <a:schemeClr val="dk1"/>
                </a:solidFill>
                <a:latin typeface="Arial"/>
                <a:ea typeface="Arial"/>
                <a:cs typeface="Arial"/>
                <a:sym typeface="Arial"/>
              </a:rPr>
              <a:t>Round 02 – </a:t>
            </a:r>
            <a:r>
              <a:rPr b="1" lang="en" sz="1300">
                <a:solidFill>
                  <a:schemeClr val="dk1"/>
                </a:solidFill>
              </a:rPr>
              <a:t>Feature Accessibility Improvement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After interface simplification, users requested faster access to key features such as Financial Tools, Daily Tips, and Goal Tracking.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Users wanted clearer navigation between Chatbot, Education Hub, Tools, and Financial Goals modules.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Participants preferred visual breakdowns (graphs, pie charts, progress bars) instead of long text explanations for financial results.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Some users requested quick shortcuts for commonly used calculators like EMI and SIP.</a:t>
            </a:r>
            <a:endParaRPr sz="1100">
              <a:solidFill>
                <a:schemeClr val="dk1"/>
              </a:solidFill>
            </a:endParaRPr>
          </a:p>
          <a:p>
            <a:pPr indent="0" lvl="0" marL="457200" rtl="0" algn="l">
              <a:lnSpc>
                <a:spcPct val="115000"/>
              </a:lnSpc>
              <a:spcBef>
                <a:spcPts val="1200"/>
              </a:spcBef>
              <a:spcAft>
                <a:spcPts val="0"/>
              </a:spcAft>
              <a:buNone/>
            </a:pPr>
            <a:r>
              <a:rPr b="1" lang="en" sz="1100">
                <a:solidFill>
                  <a:schemeClr val="dk1"/>
                </a:solidFill>
              </a:rPr>
              <a:t>Recommendation:</a:t>
            </a:r>
            <a:br>
              <a:rPr b="1" lang="en" sz="1100">
                <a:solidFill>
                  <a:schemeClr val="dk1"/>
                </a:solidFill>
              </a:rPr>
            </a:br>
            <a:r>
              <a:rPr lang="en" sz="1100">
                <a:solidFill>
                  <a:schemeClr val="dk1"/>
                </a:solidFill>
              </a:rPr>
              <a:t>Add quick-access icons on the Home Dashboard for Chatbot, Tools, Goals, and Daily Tips. Include visual summaries (charts, progress bars, risk indicators) for financial results and ensure a consistent bottom navigation bar to improve usability and reduce navigation effort.</a:t>
            </a:r>
            <a:endParaRPr sz="1100">
              <a:solidFill>
                <a:schemeClr val="dk1"/>
              </a:solidFill>
            </a:endParaRPr>
          </a:p>
          <a:p>
            <a:pPr indent="0" lvl="0" marL="457200" marR="0" rtl="0" algn="just">
              <a:lnSpc>
                <a:spcPct val="115000"/>
              </a:lnSpc>
              <a:spcBef>
                <a:spcPts val="1400"/>
              </a:spcBef>
              <a:spcAft>
                <a:spcPts val="0"/>
              </a:spcAft>
              <a:buNone/>
            </a:pPr>
            <a:r>
              <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5"/>
          <p:cNvSpPr txBox="1"/>
          <p:nvPr>
            <p:ph type="title"/>
          </p:nvPr>
        </p:nvSpPr>
        <p:spPr>
          <a:xfrm>
            <a:off x="1297500" y="393750"/>
            <a:ext cx="7038900" cy="7704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b="1" lang="en" sz="3500">
                <a:latin typeface="Maven Pro"/>
                <a:ea typeface="Maven Pro"/>
                <a:cs typeface="Maven Pro"/>
                <a:sym typeface="Maven Pro"/>
              </a:rPr>
              <a:t>PRODUCT HI FIDELITY</a:t>
            </a:r>
            <a:endParaRPr sz="3100"/>
          </a:p>
        </p:txBody>
      </p:sp>
      <p:pic>
        <p:nvPicPr>
          <p:cNvPr id="308" name="Google Shape;308;p35"/>
          <p:cNvPicPr preferRelativeResize="0"/>
          <p:nvPr/>
        </p:nvPicPr>
        <p:blipFill>
          <a:blip r:embed="rId3">
            <a:alphaModFix/>
          </a:blip>
          <a:stretch>
            <a:fillRect/>
          </a:stretch>
        </p:blipFill>
        <p:spPr>
          <a:xfrm>
            <a:off x="181250" y="1058525"/>
            <a:ext cx="1352000" cy="3171825"/>
          </a:xfrm>
          <a:prstGeom prst="rect">
            <a:avLst/>
          </a:prstGeom>
          <a:noFill/>
          <a:ln>
            <a:noFill/>
          </a:ln>
        </p:spPr>
      </p:pic>
      <p:pic>
        <p:nvPicPr>
          <p:cNvPr id="309" name="Google Shape;309;p35"/>
          <p:cNvPicPr preferRelativeResize="0"/>
          <p:nvPr/>
        </p:nvPicPr>
        <p:blipFill>
          <a:blip r:embed="rId4">
            <a:alphaModFix/>
          </a:blip>
          <a:stretch>
            <a:fillRect/>
          </a:stretch>
        </p:blipFill>
        <p:spPr>
          <a:xfrm>
            <a:off x="1862262" y="1058525"/>
            <a:ext cx="1409700" cy="3171825"/>
          </a:xfrm>
          <a:prstGeom prst="rect">
            <a:avLst/>
          </a:prstGeom>
          <a:noFill/>
          <a:ln>
            <a:noFill/>
          </a:ln>
        </p:spPr>
      </p:pic>
      <p:pic>
        <p:nvPicPr>
          <p:cNvPr id="310" name="Google Shape;310;p35"/>
          <p:cNvPicPr preferRelativeResize="0"/>
          <p:nvPr/>
        </p:nvPicPr>
        <p:blipFill>
          <a:blip r:embed="rId5">
            <a:alphaModFix/>
          </a:blip>
          <a:stretch>
            <a:fillRect/>
          </a:stretch>
        </p:blipFill>
        <p:spPr>
          <a:xfrm>
            <a:off x="3687509" y="1058525"/>
            <a:ext cx="1457325" cy="3171825"/>
          </a:xfrm>
          <a:prstGeom prst="rect">
            <a:avLst/>
          </a:prstGeom>
          <a:noFill/>
          <a:ln>
            <a:noFill/>
          </a:ln>
        </p:spPr>
      </p:pic>
      <p:pic>
        <p:nvPicPr>
          <p:cNvPr id="311" name="Google Shape;311;p35"/>
          <p:cNvPicPr preferRelativeResize="0"/>
          <p:nvPr/>
        </p:nvPicPr>
        <p:blipFill>
          <a:blip r:embed="rId6">
            <a:alphaModFix/>
          </a:blip>
          <a:stretch>
            <a:fillRect/>
          </a:stretch>
        </p:blipFill>
        <p:spPr>
          <a:xfrm>
            <a:off x="7097659" y="1068050"/>
            <a:ext cx="1457325" cy="3152775"/>
          </a:xfrm>
          <a:prstGeom prst="rect">
            <a:avLst/>
          </a:prstGeom>
          <a:noFill/>
          <a:ln>
            <a:noFill/>
          </a:ln>
        </p:spPr>
      </p:pic>
      <p:pic>
        <p:nvPicPr>
          <p:cNvPr id="312" name="Google Shape;312;p35"/>
          <p:cNvPicPr preferRelativeResize="0"/>
          <p:nvPr/>
        </p:nvPicPr>
        <p:blipFill>
          <a:blip r:embed="rId7">
            <a:alphaModFix/>
          </a:blip>
          <a:stretch>
            <a:fillRect/>
          </a:stretch>
        </p:blipFill>
        <p:spPr>
          <a:xfrm>
            <a:off x="5307576" y="1020050"/>
            <a:ext cx="1636250" cy="323763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type="title"/>
          </p:nvPr>
        </p:nvSpPr>
        <p:spPr>
          <a:xfrm>
            <a:off x="1297500" y="393750"/>
            <a:ext cx="7038900" cy="634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 sz="3140">
                <a:latin typeface="Maven Pro"/>
                <a:ea typeface="Maven Pro"/>
                <a:cs typeface="Maven Pro"/>
                <a:sym typeface="Maven Pro"/>
              </a:rPr>
              <a:t>PRODUCT DESIGN MOCKUPS</a:t>
            </a:r>
            <a:endParaRPr sz="2060"/>
          </a:p>
        </p:txBody>
      </p:sp>
      <p:sp>
        <p:nvSpPr>
          <p:cNvPr id="318" name="Google Shape;318;p36"/>
          <p:cNvSpPr txBox="1"/>
          <p:nvPr/>
        </p:nvSpPr>
        <p:spPr>
          <a:xfrm>
            <a:off x="999750" y="1028250"/>
            <a:ext cx="7849800" cy="3749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sz="1300">
                <a:solidFill>
                  <a:schemeClr val="dk1"/>
                </a:solidFill>
              </a:rPr>
              <a:t>Impact of the Project:</a:t>
            </a:r>
            <a:endParaRPr b="1" sz="1300">
              <a:solidFill>
                <a:schemeClr val="dk1"/>
              </a:solidFill>
            </a:endParaRPr>
          </a:p>
          <a:p>
            <a:pPr indent="-304800" lvl="0" marL="457200" rtl="0" algn="l">
              <a:lnSpc>
                <a:spcPct val="115000"/>
              </a:lnSpc>
              <a:spcBef>
                <a:spcPts val="1200"/>
              </a:spcBef>
              <a:spcAft>
                <a:spcPts val="0"/>
              </a:spcAft>
              <a:buClr>
                <a:schemeClr val="dk1"/>
              </a:buClr>
              <a:buSzPts val="1200"/>
              <a:buFont typeface="Times New Roman"/>
              <a:buChar char="●"/>
            </a:pPr>
            <a:r>
              <a:rPr lang="en" sz="1200">
                <a:solidFill>
                  <a:schemeClr val="dk1"/>
                </a:solidFill>
              </a:rPr>
              <a:t>The app’s AI-powered financial guidance helps users understand complex financial concepts instantly by providing clear explanations, risk indicators, and personalized recommendations.</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rPr>
              <a:t>With its structured learning hub, smart financial calculators, goal-tracking system, and daily tips, the app empowers students, working professionals, families, and aspiring investors to manage their finances confidently.</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rPr>
              <a:t>The combination of AI-driven advice, practical financial tools, and visual progress tracking improves financial awareness and reduces dependence on confusing or sales-driven online content.</a:t>
            </a:r>
            <a:endParaRPr sz="1200">
              <a:solidFill>
                <a:schemeClr val="dk1"/>
              </a:solidFill>
            </a:endParaRPr>
          </a:p>
          <a:p>
            <a:pPr indent="0" lvl="0" marL="0" rtl="0" algn="just">
              <a:lnSpc>
                <a:spcPct val="115000"/>
              </a:lnSpc>
              <a:spcBef>
                <a:spcPts val="1200"/>
              </a:spcBef>
              <a:spcAft>
                <a:spcPts val="0"/>
              </a:spcAft>
              <a:buNone/>
            </a:pPr>
            <a:r>
              <a:rPr b="1" lang="en" sz="1300">
                <a:solidFill>
                  <a:schemeClr val="dk1"/>
                </a:solidFill>
              </a:rPr>
              <a:t>What We Learned from the Project:</a:t>
            </a:r>
            <a:endParaRPr b="1" sz="1300">
              <a:solidFill>
                <a:schemeClr val="dk1"/>
              </a:solidFill>
            </a:endParaRPr>
          </a:p>
          <a:p>
            <a:pPr indent="-304800" lvl="0" marL="457200" rtl="0" algn="l">
              <a:lnSpc>
                <a:spcPct val="115000"/>
              </a:lnSpc>
              <a:spcBef>
                <a:spcPts val="1200"/>
              </a:spcBef>
              <a:spcAft>
                <a:spcPts val="0"/>
              </a:spcAft>
              <a:buClr>
                <a:schemeClr val="dk1"/>
              </a:buClr>
              <a:buSzPts val="1200"/>
              <a:buFont typeface="Times New Roman"/>
              <a:buChar char="●"/>
            </a:pPr>
            <a:r>
              <a:rPr lang="en" sz="1200">
                <a:solidFill>
                  <a:schemeClr val="dk1"/>
                </a:solidFill>
              </a:rPr>
              <a:t>Observing how users describe their financial concerns helped refine the chatbot to deliver simpler, more conversational explanations instead of technical financial jargon.</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rPr>
              <a:t>We learned that users prefer visual summaries (charts, progress bars, risk meters) rather than long text explanations when reviewing financial results or investment projections.</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rPr>
              <a:t>Insights highlighted the importance of personalization—users are more engaged when recommendations are tailored to their income, goals, and risk appetite.</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just">
              <a:lnSpc>
                <a:spcPct val="115000"/>
              </a:lnSpc>
              <a:spcBef>
                <a:spcPts val="1200"/>
              </a:spcBef>
              <a:spcAft>
                <a:spcPts val="1200"/>
              </a:spcAft>
              <a:buNone/>
            </a:pPr>
            <a:r>
              <a:t/>
            </a:r>
            <a:endParaRPr sz="12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7"/>
          <p:cNvSpPr txBox="1"/>
          <p:nvPr>
            <p:ph type="title"/>
          </p:nvPr>
        </p:nvSpPr>
        <p:spPr>
          <a:xfrm>
            <a:off x="1297500" y="269925"/>
            <a:ext cx="7038900" cy="679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990"/>
              <a:buFont typeface="Arial"/>
              <a:buNone/>
            </a:pPr>
            <a:r>
              <a:rPr b="1" lang="en" sz="3300">
                <a:latin typeface="Maven Pro"/>
                <a:ea typeface="Maven Pro"/>
                <a:cs typeface="Maven Pro"/>
                <a:sym typeface="Maven Pro"/>
              </a:rPr>
              <a:t>PRODUCT DESIGN PATENT</a:t>
            </a:r>
            <a:endParaRPr b="1" sz="3300">
              <a:latin typeface="Maven Pro"/>
              <a:ea typeface="Maven Pro"/>
              <a:cs typeface="Maven Pro"/>
              <a:sym typeface="Maven Pro"/>
            </a:endParaRPr>
          </a:p>
          <a:p>
            <a:pPr indent="0" lvl="0" marL="0" rtl="0" algn="ctr">
              <a:lnSpc>
                <a:spcPct val="100000"/>
              </a:lnSpc>
              <a:spcBef>
                <a:spcPts val="0"/>
              </a:spcBef>
              <a:spcAft>
                <a:spcPts val="0"/>
              </a:spcAft>
              <a:buSzPts val="990"/>
              <a:buNone/>
            </a:pPr>
            <a:r>
              <a:t/>
            </a:r>
            <a:endParaRPr sz="1860"/>
          </a:p>
        </p:txBody>
      </p:sp>
      <p:sp>
        <p:nvSpPr>
          <p:cNvPr id="324" name="Google Shape;324;p37"/>
          <p:cNvSpPr txBox="1"/>
          <p:nvPr/>
        </p:nvSpPr>
        <p:spPr>
          <a:xfrm>
            <a:off x="1032450" y="949725"/>
            <a:ext cx="7862700" cy="362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FFFFFF"/>
              </a:buClr>
              <a:buSzPts val="1100"/>
              <a:buFont typeface="Arial"/>
              <a:buNone/>
            </a:pPr>
            <a:r>
              <a:rPr b="1" i="0" lang="en" sz="1500" u="none" cap="none" strike="noStrike">
                <a:solidFill>
                  <a:schemeClr val="dk1"/>
                </a:solidFill>
                <a:latin typeface="Times New Roman"/>
                <a:ea typeface="Times New Roman"/>
                <a:cs typeface="Times New Roman"/>
                <a:sym typeface="Times New Roman"/>
              </a:rPr>
              <a:t>Unique Features:</a:t>
            </a:r>
            <a:endParaRPr b="1" i="0" sz="1500" u="none" cap="none" strike="noStrike">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The app uses a context-aware conversational AI system that analyzes user profile data (income, goals, risk appetite) along with real-time query input to generate personalized financial guidance.</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The system integrates deterministic financial formulas (EMI, SIP, Tax) with AI-generated contextual explanations.</a:t>
            </a:r>
            <a:endParaRPr sz="1200">
              <a:solidFill>
                <a:schemeClr val="dk1"/>
              </a:solidFill>
            </a:endParaRPr>
          </a:p>
          <a:p>
            <a:pPr indent="0" lvl="0" marL="457200" rtl="0" algn="l">
              <a:lnSpc>
                <a:spcPct val="115000"/>
              </a:lnSpc>
              <a:spcBef>
                <a:spcPts val="1200"/>
              </a:spcBef>
              <a:spcAft>
                <a:spcPts val="0"/>
              </a:spcAft>
              <a:buNone/>
            </a:pPr>
            <a:r>
              <a:t/>
            </a:r>
            <a:endParaRPr sz="1200">
              <a:solidFill>
                <a:schemeClr val="dk1"/>
              </a:solidFill>
            </a:endParaRPr>
          </a:p>
          <a:p>
            <a:pPr indent="-304800" lvl="0" marL="457200" rtl="0" algn="l">
              <a:lnSpc>
                <a:spcPct val="150000"/>
              </a:lnSpc>
              <a:spcBef>
                <a:spcPts val="1200"/>
              </a:spcBef>
              <a:spcAft>
                <a:spcPts val="0"/>
              </a:spcAft>
              <a:buClr>
                <a:schemeClr val="dk1"/>
              </a:buClr>
              <a:buSzPts val="1200"/>
              <a:buChar char="●"/>
            </a:pPr>
            <a:r>
              <a:rPr lang="en" sz="1200">
                <a:solidFill>
                  <a:schemeClr val="dk1"/>
                </a:solidFill>
              </a:rPr>
              <a:t>It clearly highlights the combination of financial education + artificial intelligence, making the app instantly stand out from traditional finance or learning apps.</a:t>
            </a:r>
            <a:endParaRPr sz="1200">
              <a:solidFill>
                <a:schemeClr val="dk1"/>
              </a:solidFill>
            </a:endParaRPr>
          </a:p>
          <a:p>
            <a:pPr indent="0" lvl="0" marL="0" marR="0" rtl="0" algn="just">
              <a:lnSpc>
                <a:spcPct val="100000"/>
              </a:lnSpc>
              <a:spcBef>
                <a:spcPts val="1200"/>
              </a:spcBef>
              <a:spcAft>
                <a:spcPts val="0"/>
              </a:spcAft>
              <a:buClr>
                <a:srgbClr val="000000"/>
              </a:buClr>
              <a:buSzPts val="1500"/>
              <a:buFont typeface="Arial"/>
              <a:buNone/>
            </a:pPr>
            <a:r>
              <a:rPr b="1" i="0" lang="en" sz="1500" u="none" cap="none" strike="noStrike">
                <a:solidFill>
                  <a:schemeClr val="dk1"/>
                </a:solidFill>
                <a:latin typeface="Times New Roman"/>
                <a:ea typeface="Times New Roman"/>
                <a:cs typeface="Times New Roman"/>
                <a:sym typeface="Times New Roman"/>
              </a:rPr>
              <a:t>Link: </a:t>
            </a:r>
            <a:endParaRPr b="1" i="0" sz="15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1200"/>
              </a:spcBef>
              <a:spcAft>
                <a:spcPts val="0"/>
              </a:spcAft>
              <a:buClr>
                <a:srgbClr val="000000"/>
              </a:buClr>
              <a:buSzPts val="1500"/>
              <a:buFont typeface="Arial"/>
              <a:buNone/>
            </a:pPr>
            <a:r>
              <a:rPr b="1" lang="en" sz="1500" u="sng">
                <a:solidFill>
                  <a:schemeClr val="hlink"/>
                </a:solidFill>
                <a:latin typeface="Times New Roman"/>
                <a:ea typeface="Times New Roman"/>
                <a:cs typeface="Times New Roman"/>
                <a:sym typeface="Times New Roman"/>
                <a:hlinkClick r:id="rId3"/>
              </a:rPr>
              <a:t>https://docs.google.com/document/d/11ndGkCTz8MOhtazkRFnUpkzSW-CXxv8n/edit?usp=sharing&amp;ouid=102391266056544561512&amp;rtpof=true&amp;sd=true</a:t>
            </a:r>
            <a:endParaRPr b="1" sz="1500">
              <a:solidFill>
                <a:schemeClr val="dk1"/>
              </a:solidFill>
              <a:latin typeface="Times New Roman"/>
              <a:ea typeface="Times New Roman"/>
              <a:cs typeface="Times New Roman"/>
              <a:sym typeface="Times New Roman"/>
            </a:endParaRPr>
          </a:p>
          <a:p>
            <a:pPr indent="0" lvl="0" marL="0" marR="0" rtl="0" algn="just">
              <a:lnSpc>
                <a:spcPct val="100000"/>
              </a:lnSpc>
              <a:spcBef>
                <a:spcPts val="1200"/>
              </a:spcBef>
              <a:spcAft>
                <a:spcPts val="0"/>
              </a:spcAft>
              <a:buClr>
                <a:srgbClr val="000000"/>
              </a:buClr>
              <a:buSzPts val="1500"/>
              <a:buFont typeface="Arial"/>
              <a:buNone/>
            </a:pPr>
            <a:r>
              <a:t/>
            </a:r>
            <a:endParaRPr b="1" sz="1500">
              <a:solidFill>
                <a:schemeClr val="dk1"/>
              </a:solidFill>
              <a:latin typeface="Times New Roman"/>
              <a:ea typeface="Times New Roman"/>
              <a:cs typeface="Times New Roman"/>
              <a:sym typeface="Times New Roman"/>
            </a:endParaRPr>
          </a:p>
          <a:p>
            <a:pPr indent="0" lvl="0" marL="0" marR="0" rtl="0" algn="just">
              <a:lnSpc>
                <a:spcPct val="100000"/>
              </a:lnSpc>
              <a:spcBef>
                <a:spcPts val="1200"/>
              </a:spcBef>
              <a:spcAft>
                <a:spcPts val="0"/>
              </a:spcAft>
              <a:buClr>
                <a:srgbClr val="000000"/>
              </a:buClr>
              <a:buSzPts val="1500"/>
              <a:buFont typeface="Arial"/>
              <a:buNone/>
            </a:pPr>
            <a:r>
              <a:t/>
            </a:r>
            <a:endParaRPr b="1" sz="1500">
              <a:solidFill>
                <a:schemeClr val="dk1"/>
              </a:solidFill>
              <a:latin typeface="Times New Roman"/>
              <a:ea typeface="Times New Roman"/>
              <a:cs typeface="Times New Roman"/>
              <a:sym typeface="Times New Roman"/>
            </a:endParaRPr>
          </a:p>
          <a:p>
            <a:pPr indent="0" lvl="0" marL="0" marR="0" rtl="0" algn="just">
              <a:lnSpc>
                <a:spcPct val="100000"/>
              </a:lnSpc>
              <a:spcBef>
                <a:spcPts val="1200"/>
              </a:spcBef>
              <a:spcAft>
                <a:spcPts val="0"/>
              </a:spcAft>
              <a:buClr>
                <a:srgbClr val="000000"/>
              </a:buClr>
              <a:buSzPts val="1500"/>
              <a:buFont typeface="Arial"/>
              <a:buNone/>
            </a:pPr>
            <a:r>
              <a:t/>
            </a:r>
            <a:endParaRPr b="1" sz="15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8"/>
          <p:cNvSpPr txBox="1"/>
          <p:nvPr>
            <p:ph type="title"/>
          </p:nvPr>
        </p:nvSpPr>
        <p:spPr>
          <a:xfrm>
            <a:off x="442190" y="51027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Development Stack</a:t>
            </a:r>
            <a:endParaRPr b="1" sz="2820"/>
          </a:p>
        </p:txBody>
      </p:sp>
      <p:sp>
        <p:nvSpPr>
          <p:cNvPr id="330" name="Google Shape;330;p38"/>
          <p:cNvSpPr txBox="1"/>
          <p:nvPr/>
        </p:nvSpPr>
        <p:spPr>
          <a:xfrm>
            <a:off x="528133" y="1343947"/>
            <a:ext cx="2692800" cy="33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FRONTEND</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Platform:</a:t>
            </a:r>
            <a:r>
              <a:rPr lang="en" sz="1100">
                <a:solidFill>
                  <a:schemeClr val="dk1"/>
                </a:solidFill>
              </a:rPr>
              <a:t> Android (Kotlin)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Web Application</a:t>
            </a:r>
            <a:r>
              <a:rPr b="1" lang="en" sz="1100">
                <a:solidFill>
                  <a:schemeClr val="dk1"/>
                </a:solidFill>
              </a:rPr>
              <a:t>:</a:t>
            </a:r>
            <a:r>
              <a:rPr lang="en" sz="1100">
                <a:solidFill>
                  <a:schemeClr val="dk1"/>
                </a:solidFill>
              </a:rPr>
              <a:t> Bootstrap (HTML, CSS and JS)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UI Design:</a:t>
            </a:r>
            <a:r>
              <a:rPr lang="en" sz="1100">
                <a:solidFill>
                  <a:schemeClr val="dk1"/>
                </a:solidFill>
              </a:rPr>
              <a:t> Figma</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Framework:</a:t>
            </a:r>
            <a:r>
              <a:rPr lang="en" sz="1100">
                <a:solidFill>
                  <a:schemeClr val="dk1"/>
                </a:solidFill>
              </a:rPr>
              <a:t> Android Studio with XML layouts + RecyclerView, Adapters, Activities/Fragments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Purpose:</a:t>
            </a:r>
            <a:r>
              <a:rPr lang="en" sz="1100">
                <a:solidFill>
                  <a:schemeClr val="dk1"/>
                </a:solidFill>
              </a:rPr>
              <a:t> Provides an interactive mobile interface for financial education, expense tracking, and personalized insights.</a:t>
            </a:r>
            <a:endParaRPr b="1" sz="1300">
              <a:solidFill>
                <a:schemeClr val="dk1"/>
              </a:solidFill>
              <a:latin typeface="Times New Roman"/>
              <a:ea typeface="Times New Roman"/>
              <a:cs typeface="Times New Roman"/>
              <a:sym typeface="Times New Roman"/>
            </a:endParaRPr>
          </a:p>
        </p:txBody>
      </p:sp>
      <p:sp>
        <p:nvSpPr>
          <p:cNvPr id="331" name="Google Shape;331;p38"/>
          <p:cNvSpPr txBox="1"/>
          <p:nvPr/>
        </p:nvSpPr>
        <p:spPr>
          <a:xfrm>
            <a:off x="6075325" y="1333225"/>
            <a:ext cx="2887500" cy="33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DATABASE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Type:</a:t>
            </a:r>
            <a:r>
              <a:rPr lang="en" sz="1100">
                <a:solidFill>
                  <a:schemeClr val="dk1"/>
                </a:solidFill>
              </a:rPr>
              <a:t> MySQL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Name:</a:t>
            </a:r>
            <a:r>
              <a:rPr lang="en" sz="1100">
                <a:solidFill>
                  <a:schemeClr val="dk1"/>
                </a:solidFill>
              </a:rPr>
              <a:t> elearning_db</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Backend + Database:</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Python Flask APIs perform CRUD operations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Users, Learning progress, Financial data, Notifications, User activity logs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Frontend + Backend:</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Communication via REST API (HTTP requests)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Android app sends requests via Retrofit.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Backend returns JSON responses</a:t>
            </a:r>
            <a:endParaRPr sz="1100">
              <a:solidFill>
                <a:schemeClr val="dk1"/>
              </a:solidFill>
            </a:endParaRPr>
          </a:p>
          <a:p>
            <a:pPr indent="0" lvl="0" marL="914400" rtl="0" algn="l">
              <a:lnSpc>
                <a:spcPct val="115000"/>
              </a:lnSpc>
              <a:spcBef>
                <a:spcPts val="1200"/>
              </a:spcBef>
              <a:spcAft>
                <a:spcPts val="1200"/>
              </a:spcAft>
              <a:buNone/>
            </a:pPr>
            <a:r>
              <a:t/>
            </a:r>
            <a:endParaRPr sz="1100">
              <a:solidFill>
                <a:schemeClr val="dk1"/>
              </a:solidFill>
            </a:endParaRPr>
          </a:p>
        </p:txBody>
      </p:sp>
      <p:sp>
        <p:nvSpPr>
          <p:cNvPr id="332" name="Google Shape;332;p38"/>
          <p:cNvSpPr txBox="1"/>
          <p:nvPr/>
        </p:nvSpPr>
        <p:spPr>
          <a:xfrm>
            <a:off x="3218400" y="1333075"/>
            <a:ext cx="2970300" cy="33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BACKEND</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Language:</a:t>
            </a:r>
            <a:r>
              <a:rPr lang="en" sz="1100">
                <a:solidFill>
                  <a:schemeClr val="dk1"/>
                </a:solidFill>
              </a:rPr>
              <a:t> Python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Framework:</a:t>
            </a:r>
            <a:r>
              <a:rPr lang="en" sz="1100">
                <a:solidFill>
                  <a:schemeClr val="dk1"/>
                </a:solidFill>
              </a:rPr>
              <a:t> Flask (REST API)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Server:</a:t>
            </a:r>
            <a:r>
              <a:rPr lang="en" sz="1100">
                <a:solidFill>
                  <a:schemeClr val="dk1"/>
                </a:solidFill>
              </a:rPr>
              <a:t> Apache (XAMPP) during development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Functionality:</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Handles user authentication &amp; sessions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Manages financial learning progress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Processes chatbot responses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Fetches gold/silver price data</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Sends push notifications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Handles API requests from Android app</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Generates financial insights</a:t>
            </a:r>
            <a:endParaRPr sz="1100">
              <a:solidFill>
                <a:schemeClr val="dk1"/>
              </a:solidFill>
            </a:endParaRPr>
          </a:p>
          <a:p>
            <a:pPr indent="0" lvl="0" marL="91440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sp>
        <p:nvSpPr>
          <p:cNvPr id="337" name="Google Shape;337;p39"/>
          <p:cNvSpPr txBox="1"/>
          <p:nvPr/>
        </p:nvSpPr>
        <p:spPr>
          <a:xfrm>
            <a:off x="4684475" y="268500"/>
            <a:ext cx="4302300" cy="460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2400"/>
              </a:spcBef>
              <a:spcAft>
                <a:spcPts val="0"/>
              </a:spcAft>
              <a:buClr>
                <a:srgbClr val="000000"/>
              </a:buClr>
              <a:buSzPts val="1250"/>
              <a:buFont typeface="Arial"/>
              <a:buNone/>
            </a:pPr>
            <a:r>
              <a:rPr b="1" i="0" lang="en" sz="1100" u="none" cap="none" strike="noStrike">
                <a:solidFill>
                  <a:schemeClr val="dk1"/>
                </a:solidFill>
                <a:latin typeface="Arial"/>
                <a:ea typeface="Arial"/>
                <a:cs typeface="Arial"/>
                <a:sym typeface="Arial"/>
              </a:rPr>
              <a:t>Step A: </a:t>
            </a:r>
            <a:r>
              <a:rPr b="1" lang="en" sz="1100">
                <a:solidFill>
                  <a:schemeClr val="dk1"/>
                </a:solidFill>
              </a:rPr>
              <a:t>Core AI Financial Guidance Functionality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Provide instant AI-powered financial explanations</a:t>
            </a:r>
            <a:r>
              <a:rPr lang="en" sz="1100">
                <a:solidFill>
                  <a:schemeClr val="dk1"/>
                </a:solidFill>
              </a:rPr>
              <a:t> with clear concept breakdown (e.g., SIP, EMI, tax, insurance), risk indicators, and recommended actionable steps.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Support chat-based interactions</a:t>
            </a:r>
            <a:r>
              <a:rPr lang="en" sz="1100">
                <a:solidFill>
                  <a:schemeClr val="dk1"/>
                </a:solidFill>
              </a:rPr>
              <a:t> that allow users to ask follow-up financial questions without navigating multiple menus.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Maintain user financial history</a:t>
            </a:r>
            <a:r>
              <a:rPr lang="en" sz="1100">
                <a:solidFill>
                  <a:schemeClr val="dk1"/>
                </a:solidFill>
              </a:rPr>
              <a:t>, calculations, goals, and recommendations, allowing users to revisit and track their financial progress over time.</a:t>
            </a:r>
            <a:endParaRPr b="1" sz="1100">
              <a:solidFill>
                <a:schemeClr val="dk1"/>
              </a:solidFill>
            </a:endParaRPr>
          </a:p>
          <a:p>
            <a:pPr indent="0" lvl="0" marL="0" marR="0" rtl="0" algn="l">
              <a:lnSpc>
                <a:spcPct val="115000"/>
              </a:lnSpc>
              <a:spcBef>
                <a:spcPts val="1200"/>
              </a:spcBef>
              <a:spcAft>
                <a:spcPts val="0"/>
              </a:spcAft>
              <a:buClr>
                <a:srgbClr val="000000"/>
              </a:buClr>
              <a:buSzPts val="1250"/>
              <a:buFont typeface="Arial"/>
              <a:buNone/>
            </a:pPr>
            <a:r>
              <a:rPr b="1" i="0" lang="en" sz="1100" u="none" cap="none" strike="noStrike">
                <a:solidFill>
                  <a:schemeClr val="dk1"/>
                </a:solidFill>
                <a:latin typeface="Arial"/>
                <a:ea typeface="Arial"/>
                <a:cs typeface="Arial"/>
                <a:sym typeface="Arial"/>
              </a:rPr>
              <a:t>Step B: </a:t>
            </a:r>
            <a:r>
              <a:rPr b="1" lang="en" sz="1100">
                <a:solidFill>
                  <a:schemeClr val="dk1"/>
                </a:solidFill>
              </a:rPr>
              <a:t>AI Intelligence &amp; Personalization Features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Use AI to deliver context-aware financial guidance</a:t>
            </a:r>
            <a:r>
              <a:rPr lang="en" sz="1100">
                <a:solidFill>
                  <a:schemeClr val="dk1"/>
                </a:solidFill>
              </a:rPr>
              <a:t>, adapting responses based on income level, risk profile instead of generic advice.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Generate simple explanations</a:t>
            </a:r>
            <a:r>
              <a:rPr lang="en" sz="1100">
                <a:solidFill>
                  <a:schemeClr val="dk1"/>
                </a:solidFill>
              </a:rPr>
              <a:t> that convert complex financial terminology into easy, everyday language with clear next steps.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Suggest relevant tools and learning modules</a:t>
            </a:r>
            <a:r>
              <a:rPr lang="en" sz="1100">
                <a:solidFill>
                  <a:schemeClr val="dk1"/>
                </a:solidFill>
              </a:rPr>
              <a:t>, such as EMI calculators, retirement planners, investment lessons, and goal tracking based on the user’s financial situation and queries.</a:t>
            </a:r>
            <a:endParaRPr sz="1100">
              <a:solidFill>
                <a:schemeClr val="dk1"/>
              </a:solidFill>
            </a:endParaRPr>
          </a:p>
          <a:p>
            <a:pPr indent="0" lvl="0" marL="457200" rtl="0" algn="l">
              <a:lnSpc>
                <a:spcPct val="115000"/>
              </a:lnSpc>
              <a:spcBef>
                <a:spcPts val="1200"/>
              </a:spcBef>
              <a:spcAft>
                <a:spcPts val="0"/>
              </a:spcAft>
              <a:buNone/>
            </a:pPr>
            <a:r>
              <a:t/>
            </a:r>
            <a:endParaRPr b="1"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0" marR="0" rtl="0" algn="l">
              <a:lnSpc>
                <a:spcPct val="115000"/>
              </a:lnSpc>
              <a:spcBef>
                <a:spcPts val="1200"/>
              </a:spcBef>
              <a:spcAft>
                <a:spcPts val="0"/>
              </a:spcAft>
              <a:buClr>
                <a:srgbClr val="000000"/>
              </a:buClr>
              <a:buSzPts val="1250"/>
              <a:buFont typeface="Arial"/>
              <a:buNone/>
            </a:pPr>
            <a:r>
              <a:t/>
            </a:r>
            <a:endParaRPr b="1" sz="1100">
              <a:solidFill>
                <a:schemeClr val="dk1"/>
              </a:solidFill>
            </a:endParaRPr>
          </a:p>
        </p:txBody>
      </p:sp>
      <p:sp>
        <p:nvSpPr>
          <p:cNvPr id="338" name="Google Shape;338;p39"/>
          <p:cNvSpPr txBox="1"/>
          <p:nvPr/>
        </p:nvSpPr>
        <p:spPr>
          <a:xfrm>
            <a:off x="1093600" y="357825"/>
            <a:ext cx="3478500" cy="411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FFFFFF"/>
              </a:buClr>
              <a:buSzPts val="1100"/>
              <a:buFont typeface="Arial"/>
              <a:buNone/>
            </a:pPr>
            <a:r>
              <a:rPr b="1" i="0" lang="en" sz="1300" u="none" cap="none" strike="noStrike">
                <a:solidFill>
                  <a:schemeClr val="dk1"/>
                </a:solidFill>
                <a:latin typeface="Times New Roman"/>
                <a:ea typeface="Times New Roman"/>
                <a:cs typeface="Times New Roman"/>
                <a:sym typeface="Times New Roman"/>
              </a:rPr>
              <a:t>Key ISO Codes for Compliance:</a:t>
            </a:r>
            <a:endParaRPr b="1" i="0" sz="1300" u="none" cap="none" strike="noStrike">
              <a:solidFill>
                <a:schemeClr val="dk1"/>
              </a:solidFill>
              <a:latin typeface="Times New Roman"/>
              <a:ea typeface="Times New Roman"/>
              <a:cs typeface="Times New Roman"/>
              <a:sym typeface="Times New Roman"/>
            </a:endParaRPr>
          </a:p>
          <a:p>
            <a:pPr indent="-311150" lvl="0" marL="457200" marR="0" rtl="0" algn="l">
              <a:lnSpc>
                <a:spcPct val="115000"/>
              </a:lnSpc>
              <a:spcBef>
                <a:spcPts val="0"/>
              </a:spcBef>
              <a:spcAft>
                <a:spcPts val="0"/>
              </a:spcAft>
              <a:buClr>
                <a:schemeClr val="dk1"/>
              </a:buClr>
              <a:buSzPts val="1300"/>
              <a:buFont typeface="Times New Roman"/>
              <a:buChar char="●"/>
            </a:pPr>
            <a:r>
              <a:rPr b="1" i="0" lang="en" sz="1100" u="none" cap="none" strike="noStrike">
                <a:solidFill>
                  <a:schemeClr val="dk1"/>
                </a:solidFill>
                <a:latin typeface="Arial"/>
                <a:ea typeface="Arial"/>
                <a:cs typeface="Arial"/>
                <a:sym typeface="Arial"/>
              </a:rPr>
              <a:t>ISO/IEC 27001</a:t>
            </a:r>
            <a:r>
              <a:rPr b="0" i="0" lang="en" sz="1100" u="none" cap="none" strike="noStrike">
                <a:solidFill>
                  <a:schemeClr val="dk1"/>
                </a:solidFill>
                <a:latin typeface="Arial"/>
                <a:ea typeface="Arial"/>
                <a:cs typeface="Arial"/>
                <a:sym typeface="Arial"/>
              </a:rPr>
              <a:t> – Secures user data and protects stored startup architecture information.</a:t>
            </a:r>
            <a:endParaRPr b="0" i="0" sz="1100" u="none" cap="none" strike="noStrike">
              <a:solidFill>
                <a:schemeClr val="dk1"/>
              </a:solidFill>
              <a:latin typeface="Arial"/>
              <a:ea typeface="Arial"/>
              <a:cs typeface="Arial"/>
              <a:sym typeface="Arial"/>
            </a:endParaRPr>
          </a:p>
          <a:p>
            <a:pPr indent="-311150" lvl="0" marL="457200" marR="0" rtl="0" algn="l">
              <a:lnSpc>
                <a:spcPct val="115000"/>
              </a:lnSpc>
              <a:spcBef>
                <a:spcPts val="0"/>
              </a:spcBef>
              <a:spcAft>
                <a:spcPts val="0"/>
              </a:spcAft>
              <a:buClr>
                <a:schemeClr val="dk1"/>
              </a:buClr>
              <a:buSzPts val="1300"/>
              <a:buFont typeface="Times New Roman"/>
              <a:buChar char="●"/>
            </a:pPr>
            <a:r>
              <a:rPr b="1" i="0" lang="en" sz="1100" u="none" cap="none" strike="noStrike">
                <a:solidFill>
                  <a:schemeClr val="dk1"/>
                </a:solidFill>
                <a:latin typeface="Arial"/>
                <a:ea typeface="Arial"/>
                <a:cs typeface="Arial"/>
                <a:sym typeface="Arial"/>
              </a:rPr>
              <a:t>ISO/IEC 27701</a:t>
            </a:r>
            <a:r>
              <a:rPr b="0" i="0" lang="en" sz="1100" u="none" cap="none" strike="noStrike">
                <a:solidFill>
                  <a:schemeClr val="dk1"/>
                </a:solidFill>
                <a:latin typeface="Arial"/>
                <a:ea typeface="Arial"/>
                <a:cs typeface="Arial"/>
                <a:sym typeface="Arial"/>
              </a:rPr>
              <a:t> – Ensures privacy management for user inputs, chat interactions, and saved project documents.</a:t>
            </a:r>
            <a:endParaRPr b="0" i="0" sz="1100" u="none" cap="none" strike="noStrike">
              <a:solidFill>
                <a:schemeClr val="dk1"/>
              </a:solidFill>
              <a:latin typeface="Arial"/>
              <a:ea typeface="Arial"/>
              <a:cs typeface="Arial"/>
              <a:sym typeface="Arial"/>
            </a:endParaRPr>
          </a:p>
          <a:p>
            <a:pPr indent="-311150" lvl="0" marL="457200" marR="0" rtl="0" algn="l">
              <a:lnSpc>
                <a:spcPct val="115000"/>
              </a:lnSpc>
              <a:spcBef>
                <a:spcPts val="0"/>
              </a:spcBef>
              <a:spcAft>
                <a:spcPts val="0"/>
              </a:spcAft>
              <a:buClr>
                <a:schemeClr val="dk1"/>
              </a:buClr>
              <a:buSzPts val="1300"/>
              <a:buFont typeface="Times New Roman"/>
              <a:buChar char="●"/>
            </a:pPr>
            <a:r>
              <a:rPr b="1" i="0" lang="en" sz="1100" u="none" cap="none" strike="noStrike">
                <a:solidFill>
                  <a:schemeClr val="dk1"/>
                </a:solidFill>
                <a:latin typeface="Arial"/>
                <a:ea typeface="Arial"/>
                <a:cs typeface="Arial"/>
                <a:sym typeface="Arial"/>
              </a:rPr>
              <a:t>ISO/IEC 25010</a:t>
            </a:r>
            <a:r>
              <a:rPr b="0" i="0" lang="en" sz="1100" u="none" cap="none" strike="noStrike">
                <a:solidFill>
                  <a:schemeClr val="dk1"/>
                </a:solidFill>
                <a:latin typeface="Arial"/>
                <a:ea typeface="Arial"/>
                <a:cs typeface="Arial"/>
                <a:sym typeface="Arial"/>
              </a:rPr>
              <a:t> – Maintains high software quality for reliable and usable AI-generated LLD outputs.</a:t>
            </a:r>
            <a:endParaRPr b="0" i="0" sz="1100" u="none" cap="none" strike="noStrike">
              <a:solidFill>
                <a:schemeClr val="dk1"/>
              </a:solidFill>
              <a:latin typeface="Arial"/>
              <a:ea typeface="Arial"/>
              <a:cs typeface="Arial"/>
              <a:sym typeface="Arial"/>
            </a:endParaRPr>
          </a:p>
          <a:p>
            <a:pPr indent="-311150" lvl="0" marL="457200" marR="0" rtl="0" algn="l">
              <a:lnSpc>
                <a:spcPct val="115000"/>
              </a:lnSpc>
              <a:spcBef>
                <a:spcPts val="0"/>
              </a:spcBef>
              <a:spcAft>
                <a:spcPts val="0"/>
              </a:spcAft>
              <a:buClr>
                <a:schemeClr val="dk1"/>
              </a:buClr>
              <a:buSzPts val="1300"/>
              <a:buFont typeface="Times New Roman"/>
              <a:buChar char="●"/>
            </a:pPr>
            <a:r>
              <a:rPr b="1" i="0" lang="en" sz="1100" u="none" cap="none" strike="noStrike">
                <a:solidFill>
                  <a:schemeClr val="dk1"/>
                </a:solidFill>
                <a:latin typeface="Arial"/>
                <a:ea typeface="Arial"/>
                <a:cs typeface="Arial"/>
                <a:sym typeface="Arial"/>
              </a:rPr>
              <a:t>ISO 9241-210</a:t>
            </a:r>
            <a:r>
              <a:rPr b="0" i="0" lang="en" sz="1100" u="none" cap="none" strike="noStrike">
                <a:solidFill>
                  <a:schemeClr val="dk1"/>
                </a:solidFill>
                <a:latin typeface="Arial"/>
                <a:ea typeface="Arial"/>
                <a:cs typeface="Arial"/>
                <a:sym typeface="Arial"/>
              </a:rPr>
              <a:t> – Guides human-centered UI design for non-technical founders using the Q&amp;A workflow.</a:t>
            </a:r>
            <a:endParaRPr b="0" i="0" sz="1100" u="none" cap="none" strike="noStrike">
              <a:solidFill>
                <a:schemeClr val="dk1"/>
              </a:solidFill>
              <a:latin typeface="Arial"/>
              <a:ea typeface="Arial"/>
              <a:cs typeface="Arial"/>
              <a:sym typeface="Arial"/>
            </a:endParaRPr>
          </a:p>
          <a:p>
            <a:pPr indent="-311150" lvl="0" marL="457200" marR="0" rtl="0" algn="l">
              <a:lnSpc>
                <a:spcPct val="115000"/>
              </a:lnSpc>
              <a:spcBef>
                <a:spcPts val="0"/>
              </a:spcBef>
              <a:spcAft>
                <a:spcPts val="0"/>
              </a:spcAft>
              <a:buClr>
                <a:schemeClr val="dk1"/>
              </a:buClr>
              <a:buSzPts val="1300"/>
              <a:buFont typeface="Times New Roman"/>
              <a:buChar char="●"/>
            </a:pPr>
            <a:r>
              <a:rPr b="1" i="0" lang="en" sz="1100" u="none" cap="none" strike="noStrike">
                <a:solidFill>
                  <a:schemeClr val="dk1"/>
                </a:solidFill>
                <a:latin typeface="Arial"/>
                <a:ea typeface="Arial"/>
                <a:cs typeface="Arial"/>
                <a:sym typeface="Arial"/>
              </a:rPr>
              <a:t>ISO/IEC </a:t>
            </a:r>
            <a:r>
              <a:rPr b="1" lang="en" sz="1100">
                <a:solidFill>
                  <a:schemeClr val="dk1"/>
                </a:solidFill>
              </a:rPr>
              <a:t>29147 – </a:t>
            </a:r>
            <a:r>
              <a:rPr lang="en" sz="1100">
                <a:solidFill>
                  <a:schemeClr val="dk1"/>
                </a:solidFill>
              </a:rPr>
              <a:t>Allows safe and structured reporting of vulnerabilities within the app’s AI chatbot, financial calculators, backend systems, and data storage.</a:t>
            </a:r>
            <a:endParaRPr sz="1000">
              <a:solidFill>
                <a:schemeClr val="dk1"/>
              </a:solidFill>
            </a:endParaRPr>
          </a:p>
          <a:p>
            <a:pPr indent="-311150" lvl="0" marL="457200" marR="0" rtl="0" algn="l">
              <a:lnSpc>
                <a:spcPct val="115000"/>
              </a:lnSpc>
              <a:spcBef>
                <a:spcPts val="0"/>
              </a:spcBef>
              <a:spcAft>
                <a:spcPts val="0"/>
              </a:spcAft>
              <a:buClr>
                <a:schemeClr val="dk1"/>
              </a:buClr>
              <a:buSzPts val="1300"/>
              <a:buFont typeface="Times New Roman"/>
              <a:buChar char="●"/>
            </a:pPr>
            <a:r>
              <a:rPr b="1" i="0" lang="en" sz="1100" u="none" cap="none" strike="noStrike">
                <a:solidFill>
                  <a:schemeClr val="dk1"/>
                </a:solidFill>
                <a:latin typeface="Arial"/>
                <a:ea typeface="Arial"/>
                <a:cs typeface="Arial"/>
                <a:sym typeface="Arial"/>
              </a:rPr>
              <a:t>WCAG 2.</a:t>
            </a:r>
            <a:r>
              <a:rPr b="1" lang="en" sz="1100">
                <a:solidFill>
                  <a:schemeClr val="dk1"/>
                </a:solidFill>
              </a:rPr>
              <a:t>2</a:t>
            </a:r>
            <a:r>
              <a:rPr b="1" i="0" lang="en" sz="1100" u="none" cap="none" strike="noStrike">
                <a:solidFill>
                  <a:schemeClr val="dk1"/>
                </a:solidFill>
                <a:latin typeface="Arial"/>
                <a:ea typeface="Arial"/>
                <a:cs typeface="Arial"/>
                <a:sym typeface="Arial"/>
              </a:rPr>
              <a:t> (W3C)</a:t>
            </a:r>
            <a:r>
              <a:rPr b="0" i="0" lang="en" sz="1100" u="none" cap="none" strike="noStrike">
                <a:solidFill>
                  <a:schemeClr val="dk1"/>
                </a:solidFill>
                <a:latin typeface="Arial"/>
                <a:ea typeface="Arial"/>
                <a:cs typeface="Arial"/>
                <a:sym typeface="Arial"/>
              </a:rPr>
              <a:t> – </a:t>
            </a:r>
            <a:r>
              <a:rPr lang="en" sz="1100">
                <a:solidFill>
                  <a:schemeClr val="dk1"/>
                </a:solidFill>
              </a:rPr>
              <a:t>Ensures visual clarity, voice interaction support, readable font sizes, and compatibility with assistive technologies.</a:t>
            </a:r>
            <a:endParaRPr b="1" i="0" sz="1200" u="none" cap="none" strike="noStrike">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nvSpPr>
        <p:spPr>
          <a:xfrm>
            <a:off x="1377075" y="1916361"/>
            <a:ext cx="6389700" cy="960600"/>
          </a:xfrm>
          <a:prstGeom prst="rect">
            <a:avLst/>
          </a:prstGeom>
          <a:noFill/>
          <a:ln>
            <a:noFill/>
          </a:ln>
        </p:spPr>
        <p:txBody>
          <a:bodyPr anchorCtr="0" anchor="t" bIns="0" lIns="0" spcFirstLastPara="1" rIns="0" wrap="square" tIns="0">
            <a:spAutoFit/>
          </a:bodyPr>
          <a:lstStyle/>
          <a:p>
            <a:pPr indent="0" lvl="0" marL="0" marR="0" rtl="0" algn="ctr">
              <a:lnSpc>
                <a:spcPct val="79998"/>
              </a:lnSpc>
              <a:spcBef>
                <a:spcPts val="0"/>
              </a:spcBef>
              <a:spcAft>
                <a:spcPts val="0"/>
              </a:spcAft>
              <a:buClr>
                <a:srgbClr val="000000"/>
              </a:buClr>
              <a:buSzPts val="7800"/>
              <a:buFont typeface="Arial"/>
              <a:buNone/>
            </a:pPr>
            <a:r>
              <a:rPr b="1" i="0" lang="en" sz="7800" u="none" cap="none" strike="noStrike">
                <a:solidFill>
                  <a:schemeClr val="dk1"/>
                </a:solidFill>
                <a:latin typeface="Maven Pro"/>
                <a:ea typeface="Maven Pro"/>
                <a:cs typeface="Maven Pro"/>
                <a:sym typeface="Maven Pro"/>
              </a:rPr>
              <a:t>Thank You</a:t>
            </a:r>
            <a:endParaRPr b="0" i="0" sz="700" u="none" cap="none" strike="noStrike">
              <a:solidFill>
                <a:schemeClr val="dk1"/>
              </a:solidFill>
              <a:latin typeface="Arial"/>
              <a:ea typeface="Arial"/>
              <a:cs typeface="Arial"/>
              <a:sym typeface="Arial"/>
            </a:endParaRPr>
          </a:p>
        </p:txBody>
      </p:sp>
      <p:sp>
        <p:nvSpPr>
          <p:cNvPr id="344" name="Google Shape;344;p40"/>
          <p:cNvSpPr txBox="1"/>
          <p:nvPr/>
        </p:nvSpPr>
        <p:spPr>
          <a:xfrm>
            <a:off x="2121895" y="3031379"/>
            <a:ext cx="49002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Maven Pro"/>
                <a:ea typeface="Maven Pro"/>
                <a:cs typeface="Maven Pro"/>
                <a:sym typeface="Maven Pro"/>
              </a:rPr>
              <a:t>Gmail: </a:t>
            </a:r>
            <a:r>
              <a:rPr lang="en" u="sng">
                <a:solidFill>
                  <a:schemeClr val="hlink"/>
                </a:solidFill>
                <a:latin typeface="Maven Pro"/>
                <a:ea typeface="Maven Pro"/>
                <a:cs typeface="Maven Pro"/>
                <a:sym typeface="Maven Pro"/>
                <a:hlinkClick r:id="rId3"/>
              </a:rPr>
              <a:t>jayaramklv@gmail.com</a:t>
            </a:r>
            <a:endParaRPr>
              <a:solidFill>
                <a:schemeClr val="dk1"/>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Maven Pro"/>
                <a:ea typeface="Maven Pro"/>
                <a:cs typeface="Maven Pro"/>
                <a:sym typeface="Maven Pro"/>
              </a:rPr>
              <a:t>Mobile no: </a:t>
            </a:r>
            <a:r>
              <a:rPr lang="en">
                <a:solidFill>
                  <a:schemeClr val="dk1"/>
                </a:solidFill>
                <a:latin typeface="Maven Pro"/>
                <a:ea typeface="Maven Pro"/>
                <a:cs typeface="Maven Pro"/>
                <a:sym typeface="Maven Pro"/>
              </a:rPr>
              <a:t>7093262577</a:t>
            </a:r>
            <a:endParaRPr b="0" i="0" sz="1400" u="none" cap="none" strike="noStrike">
              <a:solidFill>
                <a:schemeClr val="dk1"/>
              </a:solidFill>
              <a:latin typeface="Maven Pro"/>
              <a:ea typeface="Maven Pro"/>
              <a:cs typeface="Maven Pro"/>
              <a:sym typeface="Maven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